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2" r:id="rId2"/>
    <p:sldId id="274" r:id="rId3"/>
    <p:sldId id="345" r:id="rId4"/>
    <p:sldId id="344" r:id="rId5"/>
    <p:sldId id="343" r:id="rId6"/>
    <p:sldId id="354" r:id="rId7"/>
    <p:sldId id="351" r:id="rId8"/>
    <p:sldId id="355" r:id="rId9"/>
    <p:sldId id="357" r:id="rId10"/>
    <p:sldId id="356" r:id="rId11"/>
    <p:sldId id="360" r:id="rId12"/>
    <p:sldId id="353" r:id="rId13"/>
    <p:sldId id="352" r:id="rId14"/>
    <p:sldId id="358" r:id="rId15"/>
    <p:sldId id="359" r:id="rId16"/>
    <p:sldId id="322" r:id="rId17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d Von Stäck" initials="EVS" lastIdx="2" clrIdx="0">
    <p:extLst>
      <p:ext uri="{19B8F6BF-5375-455C-9EA6-DF929625EA0E}">
        <p15:presenceInfo xmlns:p15="http://schemas.microsoft.com/office/powerpoint/2012/main" userId="51396d3eb21b7a0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C7E7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0AAB7B-993B-B07F-D928-343079BD02D0}" v="264" dt="2026-01-26T12:05:19.685"/>
    <p1510:client id="{519D55B1-F0BD-1520-8070-DD346458CE59}" v="202" dt="2026-01-26T17:15:53.285"/>
    <p1510:client id="{72F30522-D9B4-DB40-54FF-C1559A98D98B}" v="7" dt="2026-01-26T10:03:46.534"/>
    <p1510:client id="{7FBB3E2A-F894-2205-0311-EFF34ADF7E12}" v="435" dt="2026-01-26T17:35:50.370"/>
    <p1510:client id="{C31BFDEF-AE8F-4F3F-971C-EF6C9F59ECAE}" v="1825" dt="2026-01-26T17:06:43.5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FD4443E-F989-4FC4-A0C8-D5A2AF1F390B}" styleName="Dunkle Formatvorlage 1 - Akz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75C95-4BCB-4C6D-8EAE-3BA9999FC631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4F619-67C3-4F0C-8203-6E7636B100E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9725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/>
              <a:t>Bundesliga Daten ab 2004 /Zweite Bundesliga ab 2013 (vorher Lücken)</a:t>
            </a:r>
          </a:p>
          <a:p>
            <a:pPr marL="171450" indent="-171450">
              <a:buFontTx/>
              <a:buChar char="-"/>
            </a:pPr>
            <a:r>
              <a:rPr lang="de-DE"/>
              <a:t>API = </a:t>
            </a:r>
            <a:r>
              <a:rPr lang="de-DE" err="1"/>
              <a:t>OpenLigaDB</a:t>
            </a:r>
            <a:r>
              <a:rPr lang="de-DE"/>
              <a:t> -&gt; Rohdaten von Privatpersonen -&gt; wird über URL abgerufen</a:t>
            </a:r>
          </a:p>
          <a:p>
            <a:pPr marL="171450" indent="-171450">
              <a:buFontTx/>
              <a:buChar char="-"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4F619-67C3-4F0C-8203-6E7636B100E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5295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/>
              <a:t>Punkte/Torverhältnis war wirklich schwer zu berechnen, dank an Arne</a:t>
            </a:r>
          </a:p>
          <a:p>
            <a:pPr marL="171450" indent="-171450">
              <a:buFontTx/>
              <a:buChar char="-"/>
            </a:pPr>
            <a:r>
              <a:rPr lang="de-DE"/>
              <a:t>Torschützenkönig einer jeden Saison (nicht zum Spieltag)</a:t>
            </a:r>
          </a:p>
          <a:p>
            <a:pPr marL="171450" indent="-171450">
              <a:buFontTx/>
              <a:buChar char="-"/>
            </a:pPr>
            <a:r>
              <a:rPr lang="de-DE"/>
              <a:t>Manuell eingefügt, war etwas Aufwand.  Passierte durch einen Updatebefehl -&gt; um die Daten nachträglich hinzuzufügen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4F619-67C3-4F0C-8203-6E7636B100E4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1226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- SQLite einfach von Nutzer zu Nutzer </a:t>
            </a:r>
            <a:r>
              <a:rPr lang="de-DE" err="1"/>
              <a:t>verschickbar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4F619-67C3-4F0C-8203-6E7636B100E4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3197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- Wir haben keine Spielerdatenbank -&gt; Wenn ein Tor geschossen wird, taucht der Spieler erst auf und der Spieler erhält einen Eintrag (sofern noch nicht vorhanden). </a:t>
            </a:r>
          </a:p>
          <a:p>
            <a:r>
              <a:rPr lang="de-DE"/>
              <a:t>- Spielerdatenbank erstellen inkl. Bilder wäre ein unfassbar hoher Aufwand gewesen (36 Mannschaften x ca. 25 Spieler = 900 Spieler pro Saison).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4F619-67C3-4F0C-8203-6E7636B100E4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4284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- In einigen Saison ist kein Meister bestimmbar, da die Daten aus der API fehlerhaft bzw. unvollständig sind. (Bevor falscher Meister bestimmt wird, lieber keiner)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4F619-67C3-4F0C-8203-6E7636B100E4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0548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/>
              <a:t>Spiel –1– hat –2– Ergebnis(se) =&gt; 1. und 2. Halbzeit</a:t>
            </a:r>
          </a:p>
          <a:p>
            <a:pPr marL="171450" indent="-171450">
              <a:buFontTx/>
              <a:buChar char="-"/>
            </a:pPr>
            <a:r>
              <a:rPr lang="de-DE"/>
              <a:t>Ergebnis hat zwei Primärschlüssel -&gt; damit es eindeutig bestimmbar ist. -&gt; Wenn man nur nach </a:t>
            </a:r>
            <a:r>
              <a:rPr lang="de-DE" err="1"/>
              <a:t>MatchID</a:t>
            </a:r>
            <a:r>
              <a:rPr lang="de-DE"/>
              <a:t> geht, bekommt man immer zwei Ergebnisse und es ist dann nicht eindeutig.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4F619-67C3-4F0C-8203-6E7636B100E4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3010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87540C-734D-49A2-8612-C4C54ECC6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78CDD11-582B-4F41-8DB2-4A5C54C16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E71E34-18EF-44A3-940A-ABCD4834D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ECA4-37F0-4E7A-8100-13617EDEFE23}" type="datetimeFigureOut">
              <a:rPr lang="en-DE" smtClean="0"/>
              <a:t>01/27/2026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7BFF6D-28FC-460B-A2C1-184545D33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D6BE89-CF34-448D-AB2E-8731B648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4C40-8F83-4F67-A5BF-DA956B7259CE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89881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7EF0FE-EE5F-4BB5-9C2C-B5A1DFCC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90A385-689A-4BC7-94F9-47CAF7587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5F0553-520F-4A51-B202-AE2C0B0C7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ECA4-37F0-4E7A-8100-13617EDEFE23}" type="datetimeFigureOut">
              <a:rPr lang="en-DE" smtClean="0"/>
              <a:t>01/27/2026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4BE306-C418-46F1-9162-638616A9A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627BE0-5ADE-4D94-80B2-83E61DBBD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4C40-8F83-4F67-A5BF-DA956B7259CE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36234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DE3ECB-BFBD-4B53-A20B-0814AA0D3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CD4BE61-C388-4E68-B6CB-CD3D5276A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E65FB4-EA00-40FA-891F-285246C5A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ECA4-37F0-4E7A-8100-13617EDEFE23}" type="datetimeFigureOut">
              <a:rPr lang="en-DE" smtClean="0"/>
              <a:t>01/27/2026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342DF8-427D-4A86-94B4-41E2DE6BC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262108-1164-44E4-9F8F-212CE0855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4C40-8F83-4F67-A5BF-DA956B7259CE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87406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E89725-27B1-4AAC-B841-185B68D84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80A302-7975-4DC6-B8EB-65DED74C96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960A399-5518-4424-B355-F26E3F7C8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D4626B6-8AB8-4022-9195-53CEACAB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ECA4-37F0-4E7A-8100-13617EDEFE23}" type="datetimeFigureOut">
              <a:rPr lang="en-DE" smtClean="0"/>
              <a:t>01/27/2026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5F7336-798B-4666-99C5-FB41DAB7D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771944E-2E96-496B-B16B-B351BFD3E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4C40-8F83-4F67-A5BF-DA956B7259CE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21203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46837E-3A3F-474E-9564-5B486D14E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8539BE-8C03-4447-9746-C209BCC66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54C8523-B665-4DFE-BE1B-B0A3F8875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C86E06F-9479-4770-8149-CA4BEB9003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D70860E-1E26-45DA-B1DD-A18A405120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EDA2C9A-A823-41F3-8E76-FC993CFC4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ECA4-37F0-4E7A-8100-13617EDEFE23}" type="datetimeFigureOut">
              <a:rPr lang="en-DE" smtClean="0"/>
              <a:t>01/27/2026</a:t>
            </a:fld>
            <a:endParaRPr lang="en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4B61CBD-89D6-4E53-95A4-65FAF05C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303EBBA-8875-4E5A-9AED-33C75FED3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4C40-8F83-4F67-A5BF-DA956B7259CE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40746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4913BA-5CBC-41F6-AED3-06361A5B0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1F22DAD-014C-4C2E-90F5-D76AD5E4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ECA4-37F0-4E7A-8100-13617EDEFE23}" type="datetimeFigureOut">
              <a:rPr lang="en-DE" smtClean="0"/>
              <a:t>01/27/2026</a:t>
            </a:fld>
            <a:endParaRPr lang="en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AAD8FF0-B053-4525-93DC-ED18E14E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4613BD2-FF05-472F-88DE-DB0AA534D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4C40-8F83-4F67-A5BF-DA956B7259CE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06332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5CACF79-4006-4594-86B4-83BA5B0F1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ECA4-37F0-4E7A-8100-13617EDEFE23}" type="datetimeFigureOut">
              <a:rPr lang="en-DE" smtClean="0"/>
              <a:t>01/27/2026</a:t>
            </a:fld>
            <a:endParaRPr lang="en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CB46BD3-9E92-4846-94FC-B98D9AE79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ADC2F53-2F91-4DE6-AFE2-CD2A8C522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4C40-8F83-4F67-A5BF-DA956B7259CE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35684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6270E0-EF52-4C34-9771-821505EE1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48C504-03DF-42DB-A6FD-6E1DADB9C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550462-03C8-4996-A703-627BCA50F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96DE0B-900C-4E73-A2D2-9F408544F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ECA4-37F0-4E7A-8100-13617EDEFE23}" type="datetimeFigureOut">
              <a:rPr lang="en-DE" smtClean="0"/>
              <a:t>01/27/2026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DB2F40-5D8A-41FD-88B4-37EA184C1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0D01BB-05CB-4C6A-963A-22FE08D5E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4C40-8F83-4F67-A5BF-DA956B7259CE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66021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75E641-4C0B-442B-9010-883754F49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12FD935-3236-4559-97AC-A04FCE770D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2702E23-BF0E-4399-8338-2CD00DCED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D62C25-A0E6-4426-AB69-EE88C6DBB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ECA4-37F0-4E7A-8100-13617EDEFE23}" type="datetimeFigureOut">
              <a:rPr lang="en-DE" smtClean="0"/>
              <a:t>01/27/2026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144BD7-8666-4D5B-9BFD-380073A64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E3A762-4941-4944-8F50-5E7614AE2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4C40-8F83-4F67-A5BF-DA956B7259CE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4528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95E7BA-6660-4A88-8B2E-6AE98B8BE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39A312F-6C51-4812-A166-37DA11774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097C80-43C2-404E-81F6-5469F2024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ECA4-37F0-4E7A-8100-13617EDEFE23}" type="datetimeFigureOut">
              <a:rPr lang="en-DE" smtClean="0"/>
              <a:t>01/27/2026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8B2E35-0AF7-4F91-8895-8A7F1CF2C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7EE478-D916-44F4-B930-6DBBDE30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4C40-8F83-4F67-A5BF-DA956B7259CE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44376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50EFCC5-49F8-4764-9C4D-6543AF08E0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A1F7C62-1EAB-43ED-8A35-2CF5F46AC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80EF23-F0F4-4AD4-A2C0-7602730A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ECA4-37F0-4E7A-8100-13617EDEFE23}" type="datetimeFigureOut">
              <a:rPr lang="en-DE" smtClean="0"/>
              <a:t>01/27/2026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62526A-739F-450E-B8C5-2DF6A1BD7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C8BC74-C123-48F8-A5CE-E5EFB1B9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14C40-8F83-4F67-A5BF-DA956B7259CE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11458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0EFEE3-2406-40D9-A617-82838C771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C86003-B264-440B-ABBA-AF5FF296D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B96267-25FB-427E-B3C8-AFEB7CE173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FECA4-37F0-4E7A-8100-13617EDEFE23}" type="datetimeFigureOut">
              <a:rPr lang="en-DE" smtClean="0"/>
              <a:t>01/27/2026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4D7AAC-1C78-49B9-8991-00BAF9060F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6711F1-BDE2-49FD-8729-B8EC4B9EE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14C40-8F83-4F67-A5BF-DA956B7259CE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04810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2EF9B4B-CFD1-43BA-B48A-8940BD50C3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314655" cy="689813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0E580D0C-9EF0-40B5-874E-4A0663207E9E}"/>
              </a:ext>
            </a:extLst>
          </p:cNvPr>
          <p:cNvSpPr txBox="1"/>
          <p:nvPr/>
        </p:nvSpPr>
        <p:spPr>
          <a:xfrm>
            <a:off x="3865172" y="862639"/>
            <a:ext cx="4654095" cy="171136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e-DE" sz="5400" b="1"/>
              <a:t>Studienleistung</a:t>
            </a:r>
          </a:p>
          <a:p>
            <a:pPr algn="ctr">
              <a:lnSpc>
                <a:spcPct val="150000"/>
              </a:lnSpc>
            </a:pPr>
            <a:r>
              <a:rPr lang="de-DE"/>
              <a:t>Informations- und Kommunikationssysteme II</a:t>
            </a:r>
            <a:endParaRPr lang="en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58D45C6-2A0E-466C-A699-BE510A6CDC57}"/>
              </a:ext>
            </a:extLst>
          </p:cNvPr>
          <p:cNvSpPr txBox="1"/>
          <p:nvPr/>
        </p:nvSpPr>
        <p:spPr>
          <a:xfrm>
            <a:off x="4258541" y="4944829"/>
            <a:ext cx="3674917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de-DE" b="1"/>
              <a:t>Arne </a:t>
            </a:r>
            <a:r>
              <a:rPr lang="de-DE" b="1" err="1"/>
              <a:t>Jurr</a:t>
            </a:r>
            <a:r>
              <a:rPr lang="de-DE" b="1"/>
              <a:t>, Maxi </a:t>
            </a:r>
            <a:r>
              <a:rPr lang="de-DE" b="1" err="1"/>
              <a:t>Kohnke</a:t>
            </a:r>
            <a:r>
              <a:rPr lang="de-DE" b="1"/>
              <a:t>, Alex </a:t>
            </a:r>
            <a:r>
              <a:rPr lang="de-DE" b="1" err="1"/>
              <a:t>Stäcker</a:t>
            </a:r>
            <a:endParaRPr lang="de-DE" b="1"/>
          </a:p>
          <a:p>
            <a:pPr algn="ctr"/>
            <a:r>
              <a:rPr lang="de-DE" b="1"/>
              <a:t>27.01.2026</a:t>
            </a:r>
            <a:endParaRPr lang="en-DE" b="1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599A477-9CDC-4921-9CED-6624A709D6CD}"/>
              </a:ext>
            </a:extLst>
          </p:cNvPr>
          <p:cNvSpPr txBox="1"/>
          <p:nvPr/>
        </p:nvSpPr>
        <p:spPr>
          <a:xfrm>
            <a:off x="1910080" y="3184896"/>
            <a:ext cx="837184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e-DE" sz="2800" b="1" i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Vorstellun</a:t>
            </a:r>
            <a:r>
              <a:rPr lang="de-DE" sz="2800" b="1">
                <a:latin typeface="Calibri" panose="020F0502020204030204" pitchFamily="34" charset="0"/>
                <a:cs typeface="Calibri" panose="020F0502020204030204" pitchFamily="34" charset="0"/>
              </a:rPr>
              <a:t>g des Projekts </a:t>
            </a:r>
          </a:p>
          <a:p>
            <a:pPr algn="ctr">
              <a:lnSpc>
                <a:spcPct val="150000"/>
              </a:lnSpc>
            </a:pPr>
            <a:r>
              <a:rPr lang="de-DE" sz="2800" b="1">
                <a:latin typeface="Calibri" panose="020F0502020204030204" pitchFamily="34" charset="0"/>
                <a:cs typeface="Calibri" panose="020F0502020204030204" pitchFamily="34" charset="0"/>
              </a:rPr>
              <a:t>„</a:t>
            </a:r>
            <a:r>
              <a:rPr lang="de-DE" sz="2800" b="1" u="sng">
                <a:latin typeface="Calibri" panose="020F0502020204030204" pitchFamily="34" charset="0"/>
                <a:cs typeface="Calibri" panose="020F0502020204030204" pitchFamily="34" charset="0"/>
              </a:rPr>
              <a:t>Datenbankprojekt: Fußball Bundesliga</a:t>
            </a:r>
            <a:r>
              <a:rPr lang="de-DE" sz="2800" b="1"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C82954D-F9FF-4DAC-94F3-CBD29E31D4D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3047" y="346885"/>
            <a:ext cx="1941881" cy="1430982"/>
          </a:xfrm>
          <a:prstGeom prst="rect">
            <a:avLst/>
          </a:prstGeom>
        </p:spPr>
      </p:pic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8BBEF7BE-4D88-48A0-BD96-6A55DDC02782}"/>
              </a:ext>
            </a:extLst>
          </p:cNvPr>
          <p:cNvCxnSpPr>
            <a:cxnSpLocks/>
          </p:cNvCxnSpPr>
          <p:nvPr/>
        </p:nvCxnSpPr>
        <p:spPr>
          <a:xfrm>
            <a:off x="1577086" y="2096812"/>
            <a:ext cx="9628496" cy="0"/>
          </a:xfrm>
          <a:prstGeom prst="line">
            <a:avLst/>
          </a:prstGeom>
          <a:ln w="25400">
            <a:solidFill>
              <a:srgbClr val="00C2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00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0E580D0C-9EF0-40B5-874E-4A0663207E9E}"/>
              </a:ext>
            </a:extLst>
          </p:cNvPr>
          <p:cNvSpPr txBox="1"/>
          <p:nvPr/>
        </p:nvSpPr>
        <p:spPr>
          <a:xfrm>
            <a:off x="5210628" y="496102"/>
            <a:ext cx="11785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/>
              <a:t>Inhalt</a:t>
            </a:r>
            <a:endParaRPr lang="en-DE" sz="3200" b="1"/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FCAB8E15-C904-452B-9C4B-58F97FB2FF3B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4160CB78-3F01-AE4F-82AD-C212836EC0C6}"/>
              </a:ext>
            </a:extLst>
          </p:cNvPr>
          <p:cNvSpPr txBox="1"/>
          <p:nvPr/>
        </p:nvSpPr>
        <p:spPr>
          <a:xfrm>
            <a:off x="944896" y="2126217"/>
            <a:ext cx="5042471" cy="373948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342900" indent="-342900">
              <a:spcAft>
                <a:spcPts val="900"/>
              </a:spcAft>
              <a:buFont typeface="+mj-lt"/>
              <a:buAutoNum type="arabicPeriod"/>
            </a:pPr>
            <a:r>
              <a:rPr lang="de-DE" sz="2800" b="1"/>
              <a:t>Projektbeschreibung</a:t>
            </a:r>
          </a:p>
          <a:p>
            <a:pPr marL="342900" indent="-342900">
              <a:spcAft>
                <a:spcPts val="900"/>
              </a:spcAft>
              <a:buFont typeface="+mj-lt"/>
              <a:buAutoNum type="arabicPeriod"/>
            </a:pPr>
            <a:r>
              <a:rPr lang="de-DE" sz="2800" b="1"/>
              <a:t>Zielbeschreibung/ -umsetzung</a:t>
            </a:r>
            <a:endParaRPr lang="de-DE" sz="2800" b="1">
              <a:ea typeface="Calibri"/>
              <a:cs typeface="Calibri"/>
            </a:endParaRPr>
          </a:p>
          <a:p>
            <a:pPr>
              <a:spcAft>
                <a:spcPts val="900"/>
              </a:spcAft>
            </a:pPr>
            <a:r>
              <a:rPr lang="de-DE" sz="2800" b="1"/>
              <a:t>3. Datenbankentwurf</a:t>
            </a:r>
          </a:p>
          <a:p>
            <a:pPr>
              <a:spcAft>
                <a:spcPts val="900"/>
              </a:spcAft>
            </a:pPr>
            <a:r>
              <a:rPr lang="de-DE" sz="2800" b="1"/>
              <a:t>4. Technische Umsetzung</a:t>
            </a:r>
          </a:p>
          <a:p>
            <a:pPr>
              <a:spcAft>
                <a:spcPts val="900"/>
              </a:spcAft>
            </a:pPr>
            <a:r>
              <a:rPr lang="de-DE" sz="2800" b="1"/>
              <a:t>5. Live-Demo</a:t>
            </a:r>
            <a:endParaRPr lang="de-DE" sz="2800" b="1">
              <a:ea typeface="Calibri"/>
              <a:cs typeface="Calibri"/>
            </a:endParaRPr>
          </a:p>
          <a:p>
            <a:pPr>
              <a:spcAft>
                <a:spcPts val="900"/>
              </a:spcAft>
            </a:pPr>
            <a:r>
              <a:rPr lang="de-DE" sz="2800" b="1"/>
              <a:t>6. Abschluss + Fragen</a:t>
            </a:r>
            <a:endParaRPr lang="de-DE" sz="2800" b="1">
              <a:ea typeface="Calibri"/>
              <a:cs typeface="Calibri"/>
            </a:endParaRPr>
          </a:p>
          <a:p>
            <a:pPr>
              <a:spcAft>
                <a:spcPts val="900"/>
              </a:spcAft>
            </a:pPr>
            <a:r>
              <a:rPr lang="de-DE" sz="2400"/>
              <a:t>  </a:t>
            </a:r>
            <a:endParaRPr lang="de-DE" sz="2400" b="1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DE1D2E3-E37F-49F0-9A6C-F442C75D28F1}"/>
              </a:ext>
            </a:extLst>
          </p:cNvPr>
          <p:cNvCxnSpPr/>
          <p:nvPr/>
        </p:nvCxnSpPr>
        <p:spPr>
          <a:xfrm>
            <a:off x="147667" y="1161943"/>
            <a:ext cx="11858803" cy="0"/>
          </a:xfrm>
          <a:prstGeom prst="line">
            <a:avLst/>
          </a:prstGeom>
          <a:ln w="25400">
            <a:solidFill>
              <a:srgbClr val="00C2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fik 12">
            <a:extLst>
              <a:ext uri="{FF2B5EF4-FFF2-40B4-BE49-F238E27FC236}">
                <a16:creationId xmlns:a16="http://schemas.microsoft.com/office/drawing/2014/main" id="{6A06CCE2-6C0F-4A93-9630-DA2161C6440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252" y="134768"/>
            <a:ext cx="1346525" cy="99226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8C4FEEEE-7519-8AB1-373C-BBD98B408686}"/>
              </a:ext>
            </a:extLst>
          </p:cNvPr>
          <p:cNvSpPr txBox="1"/>
          <p:nvPr/>
        </p:nvSpPr>
        <p:spPr>
          <a:xfrm>
            <a:off x="442195" y="6388576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27.01.2026</a:t>
            </a:r>
            <a:endParaRPr lang="en-DE" sz="140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C305D2E-B9A0-C7DD-519B-6E7792FB6F43}"/>
              </a:ext>
            </a:extLst>
          </p:cNvPr>
          <p:cNvSpPr txBox="1"/>
          <p:nvPr/>
        </p:nvSpPr>
        <p:spPr>
          <a:xfrm>
            <a:off x="3165997" y="6363023"/>
            <a:ext cx="52677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/>
              <a:t>Quelle: </a:t>
            </a:r>
            <a:r>
              <a:rPr lang="de-DE" sz="1100"/>
              <a:t>https://pixabay.com/de/photos/football-ball-fu%c3%9fball-feld-stadion-488714/</a:t>
            </a:r>
          </a:p>
        </p:txBody>
      </p:sp>
      <p:pic>
        <p:nvPicPr>
          <p:cNvPr id="6" name="Grafik 5" descr="Ein Bild, das Stadion, Gebäude, Sportplatz, Arena enthält.&#10;&#10;KI-generierte Inhalte können fehlerhaft sein.">
            <a:extLst>
              <a:ext uri="{FF2B5EF4-FFF2-40B4-BE49-F238E27FC236}">
                <a16:creationId xmlns:a16="http://schemas.microsoft.com/office/drawing/2014/main" id="{6B5C448E-E457-38E6-B553-1FE3FA29E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251" y="2748623"/>
            <a:ext cx="4673526" cy="194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9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0E580D0C-9EF0-40B5-874E-4A0663207E9E}"/>
              </a:ext>
            </a:extLst>
          </p:cNvPr>
          <p:cNvSpPr txBox="1"/>
          <p:nvPr/>
        </p:nvSpPr>
        <p:spPr>
          <a:xfrm>
            <a:off x="4247769" y="542254"/>
            <a:ext cx="36964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900"/>
              </a:spcAft>
            </a:pPr>
            <a:r>
              <a:rPr lang="de-DE" sz="3200" b="1"/>
              <a:t>Projektbeschreibung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8DF58D21-11BD-4507-B6AA-55D3A21E5183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793D274E-0D68-46C9-A4DB-CA9A23221CE3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D2FDFACA-4EAE-4030-9895-DC99B27BAFD4}"/>
              </a:ext>
            </a:extLst>
          </p:cNvPr>
          <p:cNvCxnSpPr/>
          <p:nvPr/>
        </p:nvCxnSpPr>
        <p:spPr>
          <a:xfrm>
            <a:off x="147667" y="1161943"/>
            <a:ext cx="11858803" cy="0"/>
          </a:xfrm>
          <a:prstGeom prst="line">
            <a:avLst/>
          </a:prstGeom>
          <a:ln w="25400">
            <a:solidFill>
              <a:srgbClr val="00C2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4C4C0B81-BC3E-4CC8-BC8F-C947D022E3C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252" y="134768"/>
            <a:ext cx="1346525" cy="992261"/>
          </a:xfrm>
          <a:prstGeom prst="rect">
            <a:avLst/>
          </a:prstGeom>
        </p:spPr>
      </p:pic>
      <p:sp>
        <p:nvSpPr>
          <p:cNvPr id="37" name="Pfeil: Chevron 36">
            <a:extLst>
              <a:ext uri="{FF2B5EF4-FFF2-40B4-BE49-F238E27FC236}">
                <a16:creationId xmlns:a16="http://schemas.microsoft.com/office/drawing/2014/main" id="{A9C749F8-7E03-448C-BE56-0FA6AEE09836}"/>
              </a:ext>
            </a:extLst>
          </p:cNvPr>
          <p:cNvSpPr/>
          <p:nvPr/>
        </p:nvSpPr>
        <p:spPr>
          <a:xfrm rot="5400000">
            <a:off x="241668" y="3289510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38" name="Pfeil: Chevron 37">
            <a:extLst>
              <a:ext uri="{FF2B5EF4-FFF2-40B4-BE49-F238E27FC236}">
                <a16:creationId xmlns:a16="http://schemas.microsoft.com/office/drawing/2014/main" id="{AB09CC28-E784-4B57-8C8D-56AE99AE587C}"/>
              </a:ext>
            </a:extLst>
          </p:cNvPr>
          <p:cNvSpPr/>
          <p:nvPr/>
        </p:nvSpPr>
        <p:spPr>
          <a:xfrm rot="5400000">
            <a:off x="240716" y="4157016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39" name="Pfeil: Chevron 38">
            <a:extLst>
              <a:ext uri="{FF2B5EF4-FFF2-40B4-BE49-F238E27FC236}">
                <a16:creationId xmlns:a16="http://schemas.microsoft.com/office/drawing/2014/main" id="{16CFB262-5D03-441B-8F1D-C8796C7A5766}"/>
              </a:ext>
            </a:extLst>
          </p:cNvPr>
          <p:cNvSpPr/>
          <p:nvPr/>
        </p:nvSpPr>
        <p:spPr>
          <a:xfrm rot="5400000">
            <a:off x="240715" y="2434359"/>
            <a:ext cx="1187718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411231CE-426C-4D91-81B2-7A7D905A2920}"/>
              </a:ext>
            </a:extLst>
          </p:cNvPr>
          <p:cNvSpPr txBox="1"/>
          <p:nvPr/>
        </p:nvSpPr>
        <p:spPr>
          <a:xfrm>
            <a:off x="2885778" y="2038425"/>
            <a:ext cx="642044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sz="1600" b="1"/>
              <a:t>Datenbankmodel für die erste und zweite Bundesliga :</a:t>
            </a:r>
          </a:p>
          <a:p>
            <a:pPr algn="ctr"/>
            <a:r>
              <a:rPr lang="de-DE" sz="1600"/>
              <a:t>Entwicklung eines Systems zur strukturierten Sammlung und Analyse von Fußballinformationen der Bundesliga-Saisons von 2001/2002 bis 2025/26.</a:t>
            </a:r>
          </a:p>
        </p:txBody>
      </p:sp>
      <p:sp>
        <p:nvSpPr>
          <p:cNvPr id="43" name="Pfeil: Chevron 42">
            <a:extLst>
              <a:ext uri="{FF2B5EF4-FFF2-40B4-BE49-F238E27FC236}">
                <a16:creationId xmlns:a16="http://schemas.microsoft.com/office/drawing/2014/main" id="{CBE42914-69F2-438F-8C6E-B5269518F4C5}"/>
              </a:ext>
            </a:extLst>
          </p:cNvPr>
          <p:cNvSpPr/>
          <p:nvPr/>
        </p:nvSpPr>
        <p:spPr>
          <a:xfrm rot="5400000">
            <a:off x="240715" y="5028459"/>
            <a:ext cx="1187718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81E3417-65EB-4589-BB45-3CCFFBA83A06}"/>
              </a:ext>
            </a:extLst>
          </p:cNvPr>
          <p:cNvSpPr txBox="1"/>
          <p:nvPr/>
        </p:nvSpPr>
        <p:spPr>
          <a:xfrm>
            <a:off x="11471550" y="644319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1</a:t>
            </a:r>
            <a:endParaRPr lang="en-DE" sz="140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EBB2039-82F5-03AD-EE4F-FF0561F00936}"/>
              </a:ext>
            </a:extLst>
          </p:cNvPr>
          <p:cNvSpPr txBox="1"/>
          <p:nvPr/>
        </p:nvSpPr>
        <p:spPr>
          <a:xfrm>
            <a:off x="3841303" y="4828944"/>
            <a:ext cx="45093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/>
              <a:t>Automatisierte Datenintegration:</a:t>
            </a:r>
          </a:p>
          <a:p>
            <a:pPr algn="ctr"/>
            <a:r>
              <a:rPr lang="de-DE" sz="1600"/>
              <a:t>Einbindung einer externen API-Schnittstelle zur fortlaufenden Aktualisierung relevanter Spieldaten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23778A5-3707-4AFF-16D8-D3DA349DE939}"/>
              </a:ext>
            </a:extLst>
          </p:cNvPr>
          <p:cNvSpPr txBox="1"/>
          <p:nvPr/>
        </p:nvSpPr>
        <p:spPr>
          <a:xfrm>
            <a:off x="3604740" y="3330445"/>
            <a:ext cx="49825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/>
              <a:t>Analyse und Visualisierung:</a:t>
            </a:r>
          </a:p>
          <a:p>
            <a:pPr algn="ctr"/>
            <a:r>
              <a:rPr lang="de-DE" sz="1600"/>
              <a:t>Die erfassten Daten wurden weiterverarbeitet und in geeigneter Form (z. B. Tabellen, Spieltage, Rankings) visualisiert.</a:t>
            </a:r>
          </a:p>
        </p:txBody>
      </p:sp>
      <p:pic>
        <p:nvPicPr>
          <p:cNvPr id="3" name="Grafik 2" descr="Datenbank Silhouette">
            <a:extLst>
              <a:ext uri="{FF2B5EF4-FFF2-40B4-BE49-F238E27FC236}">
                <a16:creationId xmlns:a16="http://schemas.microsoft.com/office/drawing/2014/main" id="{3E3F24E0-E0FA-BB4E-58B4-869E84A0C6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7096" y="2175634"/>
            <a:ext cx="772970" cy="597451"/>
          </a:xfrm>
          <a:prstGeom prst="rect">
            <a:avLst/>
          </a:prstGeom>
        </p:spPr>
      </p:pic>
      <p:pic>
        <p:nvPicPr>
          <p:cNvPr id="9" name="Grafik 8" descr="Pfeil Kreis Silhouette">
            <a:extLst>
              <a:ext uri="{FF2B5EF4-FFF2-40B4-BE49-F238E27FC236}">
                <a16:creationId xmlns:a16="http://schemas.microsoft.com/office/drawing/2014/main" id="{D025A312-C1D2-53CA-1755-9E3DE837AB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0692" y="4933057"/>
            <a:ext cx="678518" cy="678518"/>
          </a:xfrm>
          <a:prstGeom prst="rect">
            <a:avLst/>
          </a:prstGeom>
        </p:spPr>
      </p:pic>
      <p:pic>
        <p:nvPicPr>
          <p:cNvPr id="12" name="Grafik 11" descr="Balkendiagramm mit einfarbiger Füllung">
            <a:extLst>
              <a:ext uri="{FF2B5EF4-FFF2-40B4-BE49-F238E27FC236}">
                <a16:creationId xmlns:a16="http://schemas.microsoft.com/office/drawing/2014/main" id="{0A1F20DF-1F93-2B6B-F625-3721F2AA75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68228" y="3501637"/>
            <a:ext cx="660982" cy="660982"/>
          </a:xfrm>
          <a:prstGeom prst="rect">
            <a:avLst/>
          </a:prstGeom>
        </p:spPr>
      </p:pic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F1747C71-FBBA-C3E8-95FE-DF4AAE71F408}"/>
              </a:ext>
            </a:extLst>
          </p:cNvPr>
          <p:cNvSpPr/>
          <p:nvPr/>
        </p:nvSpPr>
        <p:spPr>
          <a:xfrm rot="5400000">
            <a:off x="5886996" y="2907798"/>
            <a:ext cx="380144" cy="4374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633862B-B397-CFFD-1247-1D1C9D9D1477}"/>
              </a:ext>
            </a:extLst>
          </p:cNvPr>
          <p:cNvSpPr txBox="1"/>
          <p:nvPr/>
        </p:nvSpPr>
        <p:spPr>
          <a:xfrm>
            <a:off x="442195" y="6388576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27.01.2026</a:t>
            </a:r>
            <a:endParaRPr lang="en-DE" sz="1400"/>
          </a:p>
        </p:txBody>
      </p:sp>
      <p:sp>
        <p:nvSpPr>
          <p:cNvPr id="21" name="Pfeil: Chevron 20">
            <a:extLst>
              <a:ext uri="{FF2B5EF4-FFF2-40B4-BE49-F238E27FC236}">
                <a16:creationId xmlns:a16="http://schemas.microsoft.com/office/drawing/2014/main" id="{EEAA4FE7-A889-C6A5-BFEB-7FABF0BF26B2}"/>
              </a:ext>
            </a:extLst>
          </p:cNvPr>
          <p:cNvSpPr/>
          <p:nvPr/>
        </p:nvSpPr>
        <p:spPr>
          <a:xfrm rot="5400000">
            <a:off x="240715" y="1566851"/>
            <a:ext cx="1187720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22" name="Pfeil: nach rechts 21">
            <a:extLst>
              <a:ext uri="{FF2B5EF4-FFF2-40B4-BE49-F238E27FC236}">
                <a16:creationId xmlns:a16="http://schemas.microsoft.com/office/drawing/2014/main" id="{2B882077-A72C-501D-7458-4F8940CA7AA5}"/>
              </a:ext>
            </a:extLst>
          </p:cNvPr>
          <p:cNvSpPr/>
          <p:nvPr/>
        </p:nvSpPr>
        <p:spPr>
          <a:xfrm rot="5400000">
            <a:off x="5886996" y="4397997"/>
            <a:ext cx="380144" cy="4374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900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6" grpId="0"/>
      <p:bldP spid="7" grpId="0"/>
      <p:bldP spid="14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8DF58D21-11BD-4507-B6AA-55D3A21E5183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793D274E-0D68-46C9-A4DB-CA9A23221CE3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D2FDFACA-4EAE-4030-9895-DC99B27BAFD4}"/>
              </a:ext>
            </a:extLst>
          </p:cNvPr>
          <p:cNvCxnSpPr/>
          <p:nvPr/>
        </p:nvCxnSpPr>
        <p:spPr>
          <a:xfrm>
            <a:off x="147667" y="1161943"/>
            <a:ext cx="11858803" cy="0"/>
          </a:xfrm>
          <a:prstGeom prst="line">
            <a:avLst/>
          </a:prstGeom>
          <a:ln w="25400">
            <a:solidFill>
              <a:srgbClr val="00C2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4C4C0B81-BC3E-4CC8-BC8F-C947D022E3C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252" y="134768"/>
            <a:ext cx="1346525" cy="992261"/>
          </a:xfrm>
          <a:prstGeom prst="rect">
            <a:avLst/>
          </a:prstGeom>
        </p:spPr>
      </p:pic>
      <p:sp>
        <p:nvSpPr>
          <p:cNvPr id="34" name="Pfeil: Chevron 33">
            <a:extLst>
              <a:ext uri="{FF2B5EF4-FFF2-40B4-BE49-F238E27FC236}">
                <a16:creationId xmlns:a16="http://schemas.microsoft.com/office/drawing/2014/main" id="{7321108D-FED3-4701-B2FA-B988A9F04E25}"/>
              </a:ext>
            </a:extLst>
          </p:cNvPr>
          <p:cNvSpPr/>
          <p:nvPr/>
        </p:nvSpPr>
        <p:spPr>
          <a:xfrm rot="5400000">
            <a:off x="241668" y="3289510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35" name="Pfeil: Chevron 34">
            <a:extLst>
              <a:ext uri="{FF2B5EF4-FFF2-40B4-BE49-F238E27FC236}">
                <a16:creationId xmlns:a16="http://schemas.microsoft.com/office/drawing/2014/main" id="{9893A94B-47EA-4751-BBD1-B63891274827}"/>
              </a:ext>
            </a:extLst>
          </p:cNvPr>
          <p:cNvSpPr/>
          <p:nvPr/>
        </p:nvSpPr>
        <p:spPr>
          <a:xfrm rot="5400000">
            <a:off x="240716" y="4157016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36" name="Pfeil: Chevron 35">
            <a:extLst>
              <a:ext uri="{FF2B5EF4-FFF2-40B4-BE49-F238E27FC236}">
                <a16:creationId xmlns:a16="http://schemas.microsoft.com/office/drawing/2014/main" id="{9F245407-A2AF-4D48-BC26-91BDFDF9FB0A}"/>
              </a:ext>
            </a:extLst>
          </p:cNvPr>
          <p:cNvSpPr/>
          <p:nvPr/>
        </p:nvSpPr>
        <p:spPr>
          <a:xfrm rot="5400000">
            <a:off x="240715" y="2434359"/>
            <a:ext cx="1187718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0" name="Pfeil: Chevron 39">
            <a:extLst>
              <a:ext uri="{FF2B5EF4-FFF2-40B4-BE49-F238E27FC236}">
                <a16:creationId xmlns:a16="http://schemas.microsoft.com/office/drawing/2014/main" id="{0005962C-D00D-48A4-845C-22867FA2FA06}"/>
              </a:ext>
            </a:extLst>
          </p:cNvPr>
          <p:cNvSpPr/>
          <p:nvPr/>
        </p:nvSpPr>
        <p:spPr>
          <a:xfrm rot="5400000">
            <a:off x="240715" y="5028459"/>
            <a:ext cx="1187718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1858660-1F4A-41F2-BB85-7CBF3ADBF170}"/>
              </a:ext>
            </a:extLst>
          </p:cNvPr>
          <p:cNvSpPr txBox="1"/>
          <p:nvPr/>
        </p:nvSpPr>
        <p:spPr>
          <a:xfrm>
            <a:off x="11471550" y="644319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2</a:t>
            </a:r>
            <a:endParaRPr lang="en-DE" sz="140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D6F4843-3A78-DD70-0EEC-098D6F4F636E}"/>
              </a:ext>
            </a:extLst>
          </p:cNvPr>
          <p:cNvSpPr txBox="1"/>
          <p:nvPr/>
        </p:nvSpPr>
        <p:spPr>
          <a:xfrm>
            <a:off x="1644603" y="1450509"/>
            <a:ext cx="5890854" cy="41857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de-DE" sz="2000" b="1" u="sng"/>
              <a:t>Grundlegende Funktionen der Datenbank</a:t>
            </a:r>
          </a:p>
          <a:p>
            <a:endParaRPr lang="de-DE" b="1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b="1"/>
              <a:t>Abdeckung beider Bundesligen: </a:t>
            </a:r>
            <a:r>
              <a:rPr lang="de-DE"/>
              <a:t>Die Datenbank erfasst alle Vereine sowie alle Spieltage und Partien der 1. und 2. Bundesliga der Saisons 2001/02 bis 2025/26.</a:t>
            </a:r>
            <a:endParaRPr lang="de-DE" sz="100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b="1"/>
              <a:t>Spielergebnisse: </a:t>
            </a:r>
            <a:r>
              <a:rPr lang="de-DE"/>
              <a:t>Alle Ergebnisse abgeschlossener Spieltage werden erfasst und zentral gespeichert.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b="1"/>
              <a:t>Torschützen: </a:t>
            </a:r>
            <a:r>
              <a:rPr lang="de-DE"/>
              <a:t>Die jeweiligen Torschützen der Partien werden ebenfalls erfasst und zentral in der Datenbank gespeichert. </a:t>
            </a:r>
            <a:endParaRPr lang="de-DE">
              <a:ea typeface="Calibri"/>
              <a:cs typeface="Calibri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b="1"/>
              <a:t>Anbindung an externe Datenquelle: </a:t>
            </a:r>
            <a:r>
              <a:rPr lang="de-DE"/>
              <a:t>Aktuelle Spieldaten werden über eine bestehende API-Schnittstelle bezogen und in die Datenbank übertragen.</a:t>
            </a:r>
            <a:endParaRPr lang="de-DE">
              <a:ea typeface="Calibri"/>
              <a:cs typeface="Calibri"/>
            </a:endParaRPr>
          </a:p>
          <a:p>
            <a:endParaRPr lang="de-DE" sz="100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ED7BE66-CBBA-598C-D657-4C54FD91821D}"/>
              </a:ext>
            </a:extLst>
          </p:cNvPr>
          <p:cNvSpPr txBox="1"/>
          <p:nvPr/>
        </p:nvSpPr>
        <p:spPr>
          <a:xfrm>
            <a:off x="2442833" y="6388576"/>
            <a:ext cx="6648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/>
              <a:t>Quelle: </a:t>
            </a:r>
            <a:r>
              <a:rPr lang="de-DE" sz="1400"/>
              <a:t>https://pixabay.com/de/photos/football-fu%c3%9fball-ball-sport-feld-1396740/</a:t>
            </a:r>
            <a:endParaRPr lang="en-DE" sz="1400"/>
          </a:p>
        </p:txBody>
      </p:sp>
      <p:pic>
        <p:nvPicPr>
          <p:cNvPr id="4" name="Grafik 3" descr="Ein Bild, das Ball, Gras, Fußball, draußen enthält.&#10;&#10;KI-generierte Inhalte können fehlerhaft sein.">
            <a:extLst>
              <a:ext uri="{FF2B5EF4-FFF2-40B4-BE49-F238E27FC236}">
                <a16:creationId xmlns:a16="http://schemas.microsoft.com/office/drawing/2014/main" id="{3460B0F3-101C-B6FF-FFCF-7F22E4446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544" y="2589742"/>
            <a:ext cx="4107484" cy="274046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3178B262-B6D7-B787-5771-9FE4BCD30EA1}"/>
              </a:ext>
            </a:extLst>
          </p:cNvPr>
          <p:cNvSpPr txBox="1"/>
          <p:nvPr/>
        </p:nvSpPr>
        <p:spPr>
          <a:xfrm>
            <a:off x="442195" y="6388576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27.01.2026</a:t>
            </a:r>
            <a:endParaRPr lang="en-DE" sz="140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8E36681-E7D1-3CFE-4BE4-0BE95B514028}"/>
              </a:ext>
            </a:extLst>
          </p:cNvPr>
          <p:cNvSpPr txBox="1"/>
          <p:nvPr/>
        </p:nvSpPr>
        <p:spPr>
          <a:xfrm>
            <a:off x="4247769" y="542254"/>
            <a:ext cx="36964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900"/>
              </a:spcAft>
            </a:pPr>
            <a:r>
              <a:rPr lang="de-DE" sz="3200" b="1"/>
              <a:t>Projektbeschreibung</a:t>
            </a:r>
          </a:p>
        </p:txBody>
      </p:sp>
      <p:sp>
        <p:nvSpPr>
          <p:cNvPr id="11" name="Pfeil: Chevron 10">
            <a:extLst>
              <a:ext uri="{FF2B5EF4-FFF2-40B4-BE49-F238E27FC236}">
                <a16:creationId xmlns:a16="http://schemas.microsoft.com/office/drawing/2014/main" id="{CB8FFE8A-7C1B-870A-901F-03C464E301B5}"/>
              </a:ext>
            </a:extLst>
          </p:cNvPr>
          <p:cNvSpPr/>
          <p:nvPr/>
        </p:nvSpPr>
        <p:spPr>
          <a:xfrm rot="5400000">
            <a:off x="240715" y="1566851"/>
            <a:ext cx="1187720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49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8DF58D21-11BD-4507-B6AA-55D3A21E5183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793D274E-0D68-46C9-A4DB-CA9A23221CE3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D2FDFACA-4EAE-4030-9895-DC99B27BAFD4}"/>
              </a:ext>
            </a:extLst>
          </p:cNvPr>
          <p:cNvCxnSpPr/>
          <p:nvPr/>
        </p:nvCxnSpPr>
        <p:spPr>
          <a:xfrm>
            <a:off x="147667" y="1161943"/>
            <a:ext cx="11858803" cy="0"/>
          </a:xfrm>
          <a:prstGeom prst="line">
            <a:avLst/>
          </a:prstGeom>
          <a:ln w="25400">
            <a:solidFill>
              <a:srgbClr val="00C2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4C4C0B81-BC3E-4CC8-BC8F-C947D022E3C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252" y="134768"/>
            <a:ext cx="1346525" cy="992261"/>
          </a:xfrm>
          <a:prstGeom prst="rect">
            <a:avLst/>
          </a:prstGeom>
        </p:spPr>
      </p:pic>
      <p:sp>
        <p:nvSpPr>
          <p:cNvPr id="40" name="Pfeil: Chevron 39">
            <a:extLst>
              <a:ext uri="{FF2B5EF4-FFF2-40B4-BE49-F238E27FC236}">
                <a16:creationId xmlns:a16="http://schemas.microsoft.com/office/drawing/2014/main" id="{7BCF73AE-0CE3-4A42-8E81-307BA6F417DB}"/>
              </a:ext>
            </a:extLst>
          </p:cNvPr>
          <p:cNvSpPr/>
          <p:nvPr/>
        </p:nvSpPr>
        <p:spPr>
          <a:xfrm rot="5400000">
            <a:off x="241668" y="3289510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1" name="Pfeil: Chevron 40">
            <a:extLst>
              <a:ext uri="{FF2B5EF4-FFF2-40B4-BE49-F238E27FC236}">
                <a16:creationId xmlns:a16="http://schemas.microsoft.com/office/drawing/2014/main" id="{D4BB64BF-A6B6-4672-A222-08D81B18CE49}"/>
              </a:ext>
            </a:extLst>
          </p:cNvPr>
          <p:cNvSpPr/>
          <p:nvPr/>
        </p:nvSpPr>
        <p:spPr>
          <a:xfrm rot="5400000">
            <a:off x="240716" y="4157016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6" name="Pfeil: Chevron 45">
            <a:extLst>
              <a:ext uri="{FF2B5EF4-FFF2-40B4-BE49-F238E27FC236}">
                <a16:creationId xmlns:a16="http://schemas.microsoft.com/office/drawing/2014/main" id="{D9C82304-B19B-42BD-B028-AA99B8BAE079}"/>
              </a:ext>
            </a:extLst>
          </p:cNvPr>
          <p:cNvSpPr/>
          <p:nvPr/>
        </p:nvSpPr>
        <p:spPr>
          <a:xfrm rot="5400000">
            <a:off x="240715" y="5028459"/>
            <a:ext cx="1187718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1D942CE-85E9-41A6-A79D-997E69F314BB}"/>
              </a:ext>
            </a:extLst>
          </p:cNvPr>
          <p:cNvSpPr txBox="1"/>
          <p:nvPr/>
        </p:nvSpPr>
        <p:spPr>
          <a:xfrm>
            <a:off x="11471550" y="644319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3</a:t>
            </a:r>
            <a:endParaRPr lang="en-DE" sz="140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511C202-744E-B345-3E72-F3634257D822}"/>
              </a:ext>
            </a:extLst>
          </p:cNvPr>
          <p:cNvSpPr txBox="1"/>
          <p:nvPr/>
        </p:nvSpPr>
        <p:spPr>
          <a:xfrm>
            <a:off x="2442833" y="6388576"/>
            <a:ext cx="6632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/>
              <a:t>Quelle: </a:t>
            </a:r>
            <a:r>
              <a:rPr lang="de-DE" sz="1400"/>
              <a:t>https://pixabay.com/de/photos/fu%c3%9fball-fu%c3%9fballtor-sport-5065614/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F1915E9-A3B7-9016-43C5-A7783F6B6127}"/>
              </a:ext>
            </a:extLst>
          </p:cNvPr>
          <p:cNvSpPr txBox="1"/>
          <p:nvPr/>
        </p:nvSpPr>
        <p:spPr>
          <a:xfrm>
            <a:off x="1644603" y="1450509"/>
            <a:ext cx="5890854" cy="48167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de-DE" sz="2000" b="1" u="sng"/>
              <a:t>Grundlegende Visualisierung der Daten</a:t>
            </a:r>
          </a:p>
          <a:p>
            <a:endParaRPr lang="de-DE" b="1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b="1"/>
              <a:t>Spieltag: </a:t>
            </a:r>
            <a:r>
              <a:rPr lang="de-DE"/>
              <a:t>Der gewünschte Spieltag wird mit sämtlichen Partien dargestellt, auch anstehende.</a:t>
            </a:r>
            <a:endParaRPr lang="de-DE" b="1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b="1"/>
              <a:t>Tabelle: </a:t>
            </a:r>
            <a:r>
              <a:rPr lang="de-DE"/>
              <a:t>Die Tabelle kann zum aktuellen Zeitpunkt in einer Saison dargestellt werden.</a:t>
            </a:r>
            <a:endParaRPr lang="de-DE">
              <a:ea typeface="Calibri"/>
              <a:cs typeface="Calibri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b="1"/>
              <a:t>Punkte und Torverhältnis: </a:t>
            </a:r>
            <a:r>
              <a:rPr lang="de-DE"/>
              <a:t>Die Punkte und das Torverhältnis kann zum aktuellen Zeitpunkt in der laufenden Saison dargestellt werden und rückblickend auf die vergangenen Saisons.</a:t>
            </a:r>
            <a:endParaRPr lang="de-DE">
              <a:ea typeface="Calibri"/>
              <a:cs typeface="Calibri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b="1"/>
              <a:t>Torschützenkönig: </a:t>
            </a:r>
            <a:r>
              <a:rPr lang="de-DE"/>
              <a:t>Ein Torschützenkönig kann zum aktuellen Zeitpunkt in der laufenden Saison dargestellt werden und rückblickend auf die vergangenen Saisons.</a:t>
            </a:r>
            <a:endParaRPr lang="de-DE" b="1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DE" b="1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DE" sz="1000"/>
          </a:p>
        </p:txBody>
      </p:sp>
      <p:pic>
        <p:nvPicPr>
          <p:cNvPr id="7" name="Grafik 6" descr="Ein Bild, das Himmel, Wolke, draußen, Ball enthält.&#10;&#10;KI-generierte Inhalte können fehlerhaft sein.">
            <a:extLst>
              <a:ext uri="{FF2B5EF4-FFF2-40B4-BE49-F238E27FC236}">
                <a16:creationId xmlns:a16="http://schemas.microsoft.com/office/drawing/2014/main" id="{CE422E98-1E8E-A3D0-0D5C-204A1BF47E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2466" y="2572772"/>
            <a:ext cx="4141890" cy="276341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6B82814F-7A99-0895-5B93-E4CB4BF42079}"/>
              </a:ext>
            </a:extLst>
          </p:cNvPr>
          <p:cNvSpPr txBox="1"/>
          <p:nvPr/>
        </p:nvSpPr>
        <p:spPr>
          <a:xfrm>
            <a:off x="442195" y="6388576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27.01.2026</a:t>
            </a:r>
            <a:endParaRPr lang="en-DE" sz="140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3E0C836-4E83-C457-3930-3FB3DD6EA989}"/>
              </a:ext>
            </a:extLst>
          </p:cNvPr>
          <p:cNvSpPr txBox="1"/>
          <p:nvPr/>
        </p:nvSpPr>
        <p:spPr>
          <a:xfrm>
            <a:off x="4247769" y="542254"/>
            <a:ext cx="36964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900"/>
              </a:spcAft>
            </a:pPr>
            <a:r>
              <a:rPr lang="de-DE" sz="3200" b="1"/>
              <a:t>Projektbeschreibung</a:t>
            </a:r>
          </a:p>
        </p:txBody>
      </p:sp>
      <p:sp>
        <p:nvSpPr>
          <p:cNvPr id="12" name="Pfeil: Chevron 11">
            <a:extLst>
              <a:ext uri="{FF2B5EF4-FFF2-40B4-BE49-F238E27FC236}">
                <a16:creationId xmlns:a16="http://schemas.microsoft.com/office/drawing/2014/main" id="{4D5DE772-7971-92EF-463E-2476FAF91E84}"/>
              </a:ext>
            </a:extLst>
          </p:cNvPr>
          <p:cNvSpPr/>
          <p:nvPr/>
        </p:nvSpPr>
        <p:spPr>
          <a:xfrm rot="5400000">
            <a:off x="240715" y="2434359"/>
            <a:ext cx="1187718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14" name="Pfeil: Chevron 13">
            <a:extLst>
              <a:ext uri="{FF2B5EF4-FFF2-40B4-BE49-F238E27FC236}">
                <a16:creationId xmlns:a16="http://schemas.microsoft.com/office/drawing/2014/main" id="{58A62548-C53A-9099-5D37-1DD5E57EE06F}"/>
              </a:ext>
            </a:extLst>
          </p:cNvPr>
          <p:cNvSpPr/>
          <p:nvPr/>
        </p:nvSpPr>
        <p:spPr>
          <a:xfrm rot="5400000">
            <a:off x="240715" y="1566851"/>
            <a:ext cx="1187720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91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2EC14-F774-4D11-9BE8-AC74D7D2A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F16A28C7-8013-8758-B454-896BE68F8A86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1FC9876-56DF-A28D-2BC4-C7A31E4CAAF1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1C40E013-15EF-A63C-BBEE-0039646BDF98}"/>
              </a:ext>
            </a:extLst>
          </p:cNvPr>
          <p:cNvCxnSpPr/>
          <p:nvPr/>
        </p:nvCxnSpPr>
        <p:spPr>
          <a:xfrm>
            <a:off x="147667" y="1161943"/>
            <a:ext cx="11858803" cy="0"/>
          </a:xfrm>
          <a:prstGeom prst="line">
            <a:avLst/>
          </a:prstGeom>
          <a:ln w="25400">
            <a:solidFill>
              <a:srgbClr val="00C2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313F47A1-A1D9-4F08-ABF6-D69B7A03ACF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252" y="134768"/>
            <a:ext cx="1346525" cy="992261"/>
          </a:xfrm>
          <a:prstGeom prst="rect">
            <a:avLst/>
          </a:prstGeom>
        </p:spPr>
      </p:pic>
      <p:sp>
        <p:nvSpPr>
          <p:cNvPr id="43" name="Pfeil: Chevron 42">
            <a:extLst>
              <a:ext uri="{FF2B5EF4-FFF2-40B4-BE49-F238E27FC236}">
                <a16:creationId xmlns:a16="http://schemas.microsoft.com/office/drawing/2014/main" id="{B26EC030-7551-6C20-D5FC-5A543765C6A1}"/>
              </a:ext>
            </a:extLst>
          </p:cNvPr>
          <p:cNvSpPr/>
          <p:nvPr/>
        </p:nvSpPr>
        <p:spPr>
          <a:xfrm rot="5400000">
            <a:off x="240716" y="4157016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5" name="Pfeil: Chevron 44">
            <a:extLst>
              <a:ext uri="{FF2B5EF4-FFF2-40B4-BE49-F238E27FC236}">
                <a16:creationId xmlns:a16="http://schemas.microsoft.com/office/drawing/2014/main" id="{18A5C0EB-AE98-3919-5934-C3E47F7C944D}"/>
              </a:ext>
            </a:extLst>
          </p:cNvPr>
          <p:cNvSpPr/>
          <p:nvPr/>
        </p:nvSpPr>
        <p:spPr>
          <a:xfrm rot="5400000">
            <a:off x="240715" y="1566851"/>
            <a:ext cx="1187720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8" name="Pfeil: Chevron 47">
            <a:extLst>
              <a:ext uri="{FF2B5EF4-FFF2-40B4-BE49-F238E27FC236}">
                <a16:creationId xmlns:a16="http://schemas.microsoft.com/office/drawing/2014/main" id="{FBFD6D64-E387-F77B-A02E-9415AB61293A}"/>
              </a:ext>
            </a:extLst>
          </p:cNvPr>
          <p:cNvSpPr/>
          <p:nvPr/>
        </p:nvSpPr>
        <p:spPr>
          <a:xfrm rot="5400000">
            <a:off x="240715" y="5028459"/>
            <a:ext cx="1187718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063E70C-CE11-27D1-E15D-A9C66FD2AC57}"/>
              </a:ext>
            </a:extLst>
          </p:cNvPr>
          <p:cNvSpPr txBox="1"/>
          <p:nvPr/>
        </p:nvSpPr>
        <p:spPr>
          <a:xfrm>
            <a:off x="11471550" y="644319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4</a:t>
            </a:r>
            <a:endParaRPr lang="en-DE" sz="140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851B0F0-468C-53F7-A6FE-39AC8139DCE9}"/>
              </a:ext>
            </a:extLst>
          </p:cNvPr>
          <p:cNvSpPr txBox="1"/>
          <p:nvPr/>
        </p:nvSpPr>
        <p:spPr>
          <a:xfrm>
            <a:off x="3474415" y="435226"/>
            <a:ext cx="5243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/>
              <a:t>Zielbeschreibung/-umsetzung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E9558CC-964E-68D8-4737-F1DD4F72848C}"/>
              </a:ext>
            </a:extLst>
          </p:cNvPr>
          <p:cNvSpPr txBox="1"/>
          <p:nvPr/>
        </p:nvSpPr>
        <p:spPr>
          <a:xfrm>
            <a:off x="442195" y="6388576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27.01.2026</a:t>
            </a:r>
            <a:endParaRPr lang="en-DE" sz="14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B9B1BE1-873D-69A9-38DB-D68405F36CF3}"/>
              </a:ext>
            </a:extLst>
          </p:cNvPr>
          <p:cNvSpPr txBox="1"/>
          <p:nvPr/>
        </p:nvSpPr>
        <p:spPr>
          <a:xfrm>
            <a:off x="3140559" y="1281074"/>
            <a:ext cx="5910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200" b="1" u="sng" err="1"/>
              <a:t>Must</a:t>
            </a:r>
            <a:r>
              <a:rPr lang="de-DE" sz="2200" b="1" u="sng"/>
              <a:t> </a:t>
            </a:r>
            <a:r>
              <a:rPr lang="de-DE" sz="2200" b="1" u="sng" err="1"/>
              <a:t>haves</a:t>
            </a:r>
            <a:r>
              <a:rPr lang="de-DE" sz="2200" b="1" u="sng"/>
              <a:t> -  Was wurde erreicht?</a:t>
            </a:r>
            <a:endParaRPr lang="de-DE" sz="2200" b="1"/>
          </a:p>
        </p:txBody>
      </p:sp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8EB21297-FAFC-AF53-0728-8ED92EDC0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468721"/>
              </p:ext>
            </p:extLst>
          </p:nvPr>
        </p:nvGraphicFramePr>
        <p:xfrm>
          <a:off x="1550950" y="1765465"/>
          <a:ext cx="10515600" cy="24079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963595393"/>
                    </a:ext>
                  </a:extLst>
                </a:gridCol>
                <a:gridCol w="2802311">
                  <a:extLst>
                    <a:ext uri="{9D8B030D-6E8A-4147-A177-3AD203B41FA5}">
                      <a16:colId xmlns:a16="http://schemas.microsoft.com/office/drawing/2014/main" val="1287657571"/>
                    </a:ext>
                  </a:extLst>
                </a:gridCol>
                <a:gridCol w="4208089">
                  <a:extLst>
                    <a:ext uri="{9D8B030D-6E8A-4147-A177-3AD203B41FA5}">
                      <a16:colId xmlns:a16="http://schemas.microsoft.com/office/drawing/2014/main" val="24584934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u="sng"/>
                        <a:t>Anforderung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u="none"/>
                        <a:t>     </a:t>
                      </a:r>
                      <a:r>
                        <a:rPr lang="de-DE" sz="2000" b="1" u="sng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u="sng"/>
                        <a:t>Erläuterung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912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Alle Fußballvereine der 1. und 2. Bundesliga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Vollständige Abbildung aller Vereine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547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Spieltage und Partien der Saisons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Saisons in die Datenbank integriert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792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Ergebnisse abgeschlossener Spieltage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Ergebnisse werden korrekt gespeichert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423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Torschützen der Partien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Torschützen sind pro Spiel abrufbar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046970"/>
                  </a:ext>
                </a:extLst>
              </a:tr>
            </a:tbl>
          </a:graphicData>
        </a:graphic>
      </p:graphicFrame>
      <p:graphicFrame>
        <p:nvGraphicFramePr>
          <p:cNvPr id="14" name="Tabelle 13">
            <a:extLst>
              <a:ext uri="{FF2B5EF4-FFF2-40B4-BE49-F238E27FC236}">
                <a16:creationId xmlns:a16="http://schemas.microsoft.com/office/drawing/2014/main" id="{D0305289-C717-9A52-5645-9882AF041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11568"/>
              </p:ext>
            </p:extLst>
          </p:nvPr>
        </p:nvGraphicFramePr>
        <p:xfrm>
          <a:off x="1550950" y="3811593"/>
          <a:ext cx="10515600" cy="16459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30830525"/>
                    </a:ext>
                  </a:extLst>
                </a:gridCol>
                <a:gridCol w="2818448">
                  <a:extLst>
                    <a:ext uri="{9D8B030D-6E8A-4147-A177-3AD203B41FA5}">
                      <a16:colId xmlns:a16="http://schemas.microsoft.com/office/drawing/2014/main" val="2758683328"/>
                    </a:ext>
                  </a:extLst>
                </a:gridCol>
                <a:gridCol w="4191952">
                  <a:extLst>
                    <a:ext uri="{9D8B030D-6E8A-4147-A177-3AD203B41FA5}">
                      <a16:colId xmlns:a16="http://schemas.microsoft.com/office/drawing/2014/main" val="332674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353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Abrufe an eine bestehende API-Schnittstelle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API wird erfolgreich genutzt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106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Überführung der empfangenen Daten in die Datenbank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Daten werden von OpenLigaDB abgerufen und in unsere Datenbank geschrieben</a:t>
                      </a:r>
                      <a:endParaRPr lang="de-DE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156836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A62238AD-5795-A441-9566-DCF6132E3068}"/>
              </a:ext>
            </a:extLst>
          </p:cNvPr>
          <p:cNvSpPr txBox="1"/>
          <p:nvPr/>
        </p:nvSpPr>
        <p:spPr>
          <a:xfrm>
            <a:off x="1660710" y="5559919"/>
            <a:ext cx="10151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/>
              <a:t>Alle Must-Haves wurden vollständig umgesetzt. Die Kernfunktionalität der Datenbank ist gewährleistet.</a:t>
            </a:r>
          </a:p>
        </p:txBody>
      </p:sp>
      <p:sp>
        <p:nvSpPr>
          <p:cNvPr id="6" name="Pfeil: Chevron 5">
            <a:extLst>
              <a:ext uri="{FF2B5EF4-FFF2-40B4-BE49-F238E27FC236}">
                <a16:creationId xmlns:a16="http://schemas.microsoft.com/office/drawing/2014/main" id="{B13349EB-D92E-4E92-F033-D62A24B73F74}"/>
              </a:ext>
            </a:extLst>
          </p:cNvPr>
          <p:cNvSpPr/>
          <p:nvPr/>
        </p:nvSpPr>
        <p:spPr>
          <a:xfrm rot="5400000">
            <a:off x="241668" y="3289510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7" name="Pfeil: Chevron 6">
            <a:extLst>
              <a:ext uri="{FF2B5EF4-FFF2-40B4-BE49-F238E27FC236}">
                <a16:creationId xmlns:a16="http://schemas.microsoft.com/office/drawing/2014/main" id="{666616E2-0FCD-0595-0B2D-E1DB7353F655}"/>
              </a:ext>
            </a:extLst>
          </p:cNvPr>
          <p:cNvSpPr/>
          <p:nvPr/>
        </p:nvSpPr>
        <p:spPr>
          <a:xfrm rot="5400000">
            <a:off x="240715" y="2434359"/>
            <a:ext cx="1187718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77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505D1-726C-9268-EDDC-DDD6FA4ED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CBE880AA-1FCA-3CF4-AB38-250D4A1EB177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CCD0771-2F90-655C-2A2F-13A2151D1C1C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0A6C8309-A9A2-0AAE-E19C-18C256690DFC}"/>
              </a:ext>
            </a:extLst>
          </p:cNvPr>
          <p:cNvCxnSpPr/>
          <p:nvPr/>
        </p:nvCxnSpPr>
        <p:spPr>
          <a:xfrm>
            <a:off x="147667" y="1161943"/>
            <a:ext cx="11858803" cy="0"/>
          </a:xfrm>
          <a:prstGeom prst="line">
            <a:avLst/>
          </a:prstGeom>
          <a:ln w="25400">
            <a:solidFill>
              <a:srgbClr val="00C2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E2688C9B-0F54-C9C7-E19E-75FD91EC76C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252" y="134768"/>
            <a:ext cx="1346525" cy="992261"/>
          </a:xfrm>
          <a:prstGeom prst="rect">
            <a:avLst/>
          </a:prstGeom>
        </p:spPr>
      </p:pic>
      <p:sp>
        <p:nvSpPr>
          <p:cNvPr id="43" name="Pfeil: Chevron 42">
            <a:extLst>
              <a:ext uri="{FF2B5EF4-FFF2-40B4-BE49-F238E27FC236}">
                <a16:creationId xmlns:a16="http://schemas.microsoft.com/office/drawing/2014/main" id="{11E10ED5-F316-D047-5C59-B6E3A9AD7D85}"/>
              </a:ext>
            </a:extLst>
          </p:cNvPr>
          <p:cNvSpPr/>
          <p:nvPr/>
        </p:nvSpPr>
        <p:spPr>
          <a:xfrm rot="5400000">
            <a:off x="240716" y="4157016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4" name="Pfeil: Chevron 43">
            <a:extLst>
              <a:ext uri="{FF2B5EF4-FFF2-40B4-BE49-F238E27FC236}">
                <a16:creationId xmlns:a16="http://schemas.microsoft.com/office/drawing/2014/main" id="{7F01AA07-3597-447D-DDB1-B0A255531AF9}"/>
              </a:ext>
            </a:extLst>
          </p:cNvPr>
          <p:cNvSpPr/>
          <p:nvPr/>
        </p:nvSpPr>
        <p:spPr>
          <a:xfrm rot="5400000">
            <a:off x="240715" y="2434359"/>
            <a:ext cx="1187718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5" name="Pfeil: Chevron 44">
            <a:extLst>
              <a:ext uri="{FF2B5EF4-FFF2-40B4-BE49-F238E27FC236}">
                <a16:creationId xmlns:a16="http://schemas.microsoft.com/office/drawing/2014/main" id="{36707EE0-A4C5-1701-CB94-745DF8490686}"/>
              </a:ext>
            </a:extLst>
          </p:cNvPr>
          <p:cNvSpPr/>
          <p:nvPr/>
        </p:nvSpPr>
        <p:spPr>
          <a:xfrm rot="5400000">
            <a:off x="240715" y="1566851"/>
            <a:ext cx="1187720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8" name="Pfeil: Chevron 47">
            <a:extLst>
              <a:ext uri="{FF2B5EF4-FFF2-40B4-BE49-F238E27FC236}">
                <a16:creationId xmlns:a16="http://schemas.microsoft.com/office/drawing/2014/main" id="{8A8E8D5A-A402-A02B-0211-0EACC2A2F8E3}"/>
              </a:ext>
            </a:extLst>
          </p:cNvPr>
          <p:cNvSpPr/>
          <p:nvPr/>
        </p:nvSpPr>
        <p:spPr>
          <a:xfrm rot="5400000">
            <a:off x="240715" y="5028459"/>
            <a:ext cx="1187718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426B00A-2EB2-A096-35F7-9686D147EBA5}"/>
              </a:ext>
            </a:extLst>
          </p:cNvPr>
          <p:cNvSpPr txBox="1"/>
          <p:nvPr/>
        </p:nvSpPr>
        <p:spPr>
          <a:xfrm>
            <a:off x="11471550" y="644319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5</a:t>
            </a:r>
            <a:endParaRPr lang="en-DE" sz="14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48FB5FF-223A-9A3A-7C0D-32CAC15716C7}"/>
              </a:ext>
            </a:extLst>
          </p:cNvPr>
          <p:cNvSpPr txBox="1"/>
          <p:nvPr/>
        </p:nvSpPr>
        <p:spPr>
          <a:xfrm>
            <a:off x="442195" y="6388576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27.01.2026</a:t>
            </a:r>
            <a:endParaRPr lang="en-DE" sz="14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4E21928-DE8D-2C55-FC79-624061BF5515}"/>
              </a:ext>
            </a:extLst>
          </p:cNvPr>
          <p:cNvSpPr txBox="1"/>
          <p:nvPr/>
        </p:nvSpPr>
        <p:spPr>
          <a:xfrm>
            <a:off x="3140559" y="1291777"/>
            <a:ext cx="5910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 u="sng" err="1"/>
              <a:t>Should</a:t>
            </a:r>
            <a:r>
              <a:rPr lang="de-DE" sz="2000" b="1" u="sng"/>
              <a:t> </a:t>
            </a:r>
            <a:r>
              <a:rPr lang="de-DE" sz="2000" b="1" u="sng" err="1"/>
              <a:t>haves</a:t>
            </a:r>
            <a:r>
              <a:rPr lang="de-DE" sz="2000" b="1" u="sng"/>
              <a:t> -  Was wurde erreicht?</a:t>
            </a:r>
            <a:endParaRPr lang="de-DE" b="1"/>
          </a:p>
        </p:txBody>
      </p:sp>
      <p:graphicFrame>
        <p:nvGraphicFramePr>
          <p:cNvPr id="17" name="Tabelle 16">
            <a:extLst>
              <a:ext uri="{FF2B5EF4-FFF2-40B4-BE49-F238E27FC236}">
                <a16:creationId xmlns:a16="http://schemas.microsoft.com/office/drawing/2014/main" id="{786093C8-12C7-3960-8102-1FF69F814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763429"/>
              </p:ext>
            </p:extLst>
          </p:nvPr>
        </p:nvGraphicFramePr>
        <p:xfrm>
          <a:off x="1447598" y="1836651"/>
          <a:ext cx="10515600" cy="2255520"/>
        </p:xfrm>
        <a:graphic>
          <a:graphicData uri="http://schemas.openxmlformats.org/drawingml/2006/table">
            <a:tbl>
              <a:tblPr/>
              <a:tblGrid>
                <a:gridCol w="3780618">
                  <a:extLst>
                    <a:ext uri="{9D8B030D-6E8A-4147-A177-3AD203B41FA5}">
                      <a16:colId xmlns:a16="http://schemas.microsoft.com/office/drawing/2014/main" val="1448720089"/>
                    </a:ext>
                  </a:extLst>
                </a:gridCol>
                <a:gridCol w="2404335">
                  <a:extLst>
                    <a:ext uri="{9D8B030D-6E8A-4147-A177-3AD203B41FA5}">
                      <a16:colId xmlns:a16="http://schemas.microsoft.com/office/drawing/2014/main" val="1042227130"/>
                    </a:ext>
                  </a:extLst>
                </a:gridCol>
                <a:gridCol w="4330647">
                  <a:extLst>
                    <a:ext uri="{9D8B030D-6E8A-4147-A177-3AD203B41FA5}">
                      <a16:colId xmlns:a16="http://schemas.microsoft.com/office/drawing/2014/main" val="3930006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de-DE" sz="2000" b="1" u="sng"/>
                    </a:p>
                    <a:p>
                      <a:pPr algn="ctr">
                        <a:buNone/>
                      </a:pPr>
                      <a:r>
                        <a:rPr lang="de-DE" sz="1800" b="1" u="sng"/>
                        <a:t>Anforderung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de-DE" sz="1800" b="1" u="sng"/>
                    </a:p>
                    <a:p>
                      <a:pPr algn="l">
                        <a:buNone/>
                      </a:pPr>
                      <a:r>
                        <a:rPr lang="de-DE" sz="1800" b="1" u="none"/>
                        <a:t>      </a:t>
                      </a:r>
                      <a:r>
                        <a:rPr lang="de-DE" sz="1800" b="1" u="sng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de-DE" sz="1800" b="1" u="sng"/>
                    </a:p>
                    <a:p>
                      <a:pPr algn="l">
                        <a:buNone/>
                      </a:pPr>
                      <a:r>
                        <a:rPr lang="de-DE" sz="1800" b="1" u="sng"/>
                        <a:t>Erläuterung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744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Grundlegende Datenvisualisierung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Daten werden aus der DB abgerufen und mit Python visualisiert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221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Vorbereitete Standardabfragen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Wiederverwendbare Abfragen vorhanden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284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Darstellung des aktuellen Spieltags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Spieltag wird dynamisch angezeigt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598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Visualisierung der Tabelle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Tabellenstand übersichtlich dargestellt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651097"/>
                  </a:ext>
                </a:extLst>
              </a:tr>
            </a:tbl>
          </a:graphicData>
        </a:graphic>
      </p:graphicFrame>
      <p:graphicFrame>
        <p:nvGraphicFramePr>
          <p:cNvPr id="22" name="Tabelle 21">
            <a:extLst>
              <a:ext uri="{FF2B5EF4-FFF2-40B4-BE49-F238E27FC236}">
                <a16:creationId xmlns:a16="http://schemas.microsoft.com/office/drawing/2014/main" id="{94BAD32E-DC72-94F1-0370-D70FD6D80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478829"/>
              </p:ext>
            </p:extLst>
          </p:nvPr>
        </p:nvGraphicFramePr>
        <p:xfrm>
          <a:off x="1447598" y="4355761"/>
          <a:ext cx="10515600" cy="1341120"/>
        </p:xfrm>
        <a:graphic>
          <a:graphicData uri="http://schemas.openxmlformats.org/drawingml/2006/table">
            <a:tbl>
              <a:tblPr/>
              <a:tblGrid>
                <a:gridCol w="3812891">
                  <a:extLst>
                    <a:ext uri="{9D8B030D-6E8A-4147-A177-3AD203B41FA5}">
                      <a16:colId xmlns:a16="http://schemas.microsoft.com/office/drawing/2014/main" val="3714110658"/>
                    </a:ext>
                  </a:extLst>
                </a:gridCol>
                <a:gridCol w="2355684">
                  <a:extLst>
                    <a:ext uri="{9D8B030D-6E8A-4147-A177-3AD203B41FA5}">
                      <a16:colId xmlns:a16="http://schemas.microsoft.com/office/drawing/2014/main" val="3430322008"/>
                    </a:ext>
                  </a:extLst>
                </a:gridCol>
                <a:gridCol w="4347025">
                  <a:extLst>
                    <a:ext uri="{9D8B030D-6E8A-4147-A177-3AD203B41FA5}">
                      <a16:colId xmlns:a16="http://schemas.microsoft.com/office/drawing/2014/main" val="4202753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24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Aktuelle Tabellensituation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Punkte und Torverhältnisse enthalten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084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Bestimmung des Torschützenkönigs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Spielerdatenbank erweitert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621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Logos der Vereine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✅ umgesetzt</a:t>
                      </a:r>
                      <a:endParaRPr lang="de-DE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Mussten manuell eingefügt werden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702532"/>
                  </a:ext>
                </a:extLst>
              </a:tr>
            </a:tbl>
          </a:graphicData>
        </a:graphic>
      </p:graphicFrame>
      <p:sp>
        <p:nvSpPr>
          <p:cNvPr id="26" name="Textfeld 25">
            <a:extLst>
              <a:ext uri="{FF2B5EF4-FFF2-40B4-BE49-F238E27FC236}">
                <a16:creationId xmlns:a16="http://schemas.microsoft.com/office/drawing/2014/main" id="{9A736F5F-10DB-067A-8695-6FD0AE9EB1C6}"/>
              </a:ext>
            </a:extLst>
          </p:cNvPr>
          <p:cNvSpPr txBox="1"/>
          <p:nvPr/>
        </p:nvSpPr>
        <p:spPr>
          <a:xfrm>
            <a:off x="1359497" y="1686074"/>
            <a:ext cx="6096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de-DE" sz="1800" b="1" u="sng"/>
              <a:t>Visualisierung &amp; Abfragen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C54A8221-EE8D-A068-4326-ABE965CC2975}"/>
              </a:ext>
            </a:extLst>
          </p:cNvPr>
          <p:cNvSpPr txBox="1"/>
          <p:nvPr/>
        </p:nvSpPr>
        <p:spPr>
          <a:xfrm>
            <a:off x="1359497" y="4274857"/>
            <a:ext cx="6096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u="sng"/>
              <a:t>Erweiterte Daten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53D5B5EE-8BF7-6F30-9F1A-609E11BAF99F}"/>
              </a:ext>
            </a:extLst>
          </p:cNvPr>
          <p:cNvSpPr txBox="1"/>
          <p:nvPr/>
        </p:nvSpPr>
        <p:spPr>
          <a:xfrm>
            <a:off x="3474415" y="435226"/>
            <a:ext cx="5243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/>
              <a:t>Zielbeschreibung/-umsetzung</a:t>
            </a:r>
          </a:p>
        </p:txBody>
      </p:sp>
      <p:sp>
        <p:nvSpPr>
          <p:cNvPr id="30" name="Pfeil: Chevron 29">
            <a:extLst>
              <a:ext uri="{FF2B5EF4-FFF2-40B4-BE49-F238E27FC236}">
                <a16:creationId xmlns:a16="http://schemas.microsoft.com/office/drawing/2014/main" id="{FE76D6F4-4E7C-9FB0-D993-2236A0B0C479}"/>
              </a:ext>
            </a:extLst>
          </p:cNvPr>
          <p:cNvSpPr/>
          <p:nvPr/>
        </p:nvSpPr>
        <p:spPr>
          <a:xfrm rot="5400000">
            <a:off x="241668" y="3289510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94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6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E79FE-F740-2233-A8EF-9F1E6F108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776E617-CE79-A82D-93EC-2A8CF5E2FD1B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405F11AA-A7A3-4C77-37B8-8661C6B10248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1F01F3D5-D195-CBA2-BEEA-5B0722246EEF}"/>
              </a:ext>
            </a:extLst>
          </p:cNvPr>
          <p:cNvCxnSpPr/>
          <p:nvPr/>
        </p:nvCxnSpPr>
        <p:spPr>
          <a:xfrm>
            <a:off x="147667" y="1161943"/>
            <a:ext cx="11858803" cy="0"/>
          </a:xfrm>
          <a:prstGeom prst="line">
            <a:avLst/>
          </a:prstGeom>
          <a:ln w="25400">
            <a:solidFill>
              <a:srgbClr val="00C2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8EBC424F-E1AB-A36A-6601-8A6F90C58CD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252" y="134768"/>
            <a:ext cx="1346525" cy="992261"/>
          </a:xfrm>
          <a:prstGeom prst="rect">
            <a:avLst/>
          </a:prstGeom>
        </p:spPr>
      </p:pic>
      <p:sp>
        <p:nvSpPr>
          <p:cNvPr id="43" name="Pfeil: Chevron 42">
            <a:extLst>
              <a:ext uri="{FF2B5EF4-FFF2-40B4-BE49-F238E27FC236}">
                <a16:creationId xmlns:a16="http://schemas.microsoft.com/office/drawing/2014/main" id="{5FC2F791-AB62-2347-6088-949A8053ACA2}"/>
              </a:ext>
            </a:extLst>
          </p:cNvPr>
          <p:cNvSpPr/>
          <p:nvPr/>
        </p:nvSpPr>
        <p:spPr>
          <a:xfrm rot="5400000">
            <a:off x="240716" y="4157016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4" name="Pfeil: Chevron 43">
            <a:extLst>
              <a:ext uri="{FF2B5EF4-FFF2-40B4-BE49-F238E27FC236}">
                <a16:creationId xmlns:a16="http://schemas.microsoft.com/office/drawing/2014/main" id="{CCF05952-9CF7-37FD-2494-9140F801E48C}"/>
              </a:ext>
            </a:extLst>
          </p:cNvPr>
          <p:cNvSpPr/>
          <p:nvPr/>
        </p:nvSpPr>
        <p:spPr>
          <a:xfrm rot="5400000">
            <a:off x="240715" y="2434359"/>
            <a:ext cx="1187718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5" name="Pfeil: Chevron 44">
            <a:extLst>
              <a:ext uri="{FF2B5EF4-FFF2-40B4-BE49-F238E27FC236}">
                <a16:creationId xmlns:a16="http://schemas.microsoft.com/office/drawing/2014/main" id="{E272D34C-9E31-6370-E7B7-74B714BD1773}"/>
              </a:ext>
            </a:extLst>
          </p:cNvPr>
          <p:cNvSpPr/>
          <p:nvPr/>
        </p:nvSpPr>
        <p:spPr>
          <a:xfrm rot="5400000">
            <a:off x="240715" y="1566851"/>
            <a:ext cx="1187720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8" name="Pfeil: Chevron 47">
            <a:extLst>
              <a:ext uri="{FF2B5EF4-FFF2-40B4-BE49-F238E27FC236}">
                <a16:creationId xmlns:a16="http://schemas.microsoft.com/office/drawing/2014/main" id="{C79F9011-18F9-9669-CA33-7219EAE2512F}"/>
              </a:ext>
            </a:extLst>
          </p:cNvPr>
          <p:cNvSpPr/>
          <p:nvPr/>
        </p:nvSpPr>
        <p:spPr>
          <a:xfrm rot="5400000">
            <a:off x="240715" y="5028459"/>
            <a:ext cx="1187718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F27D32F-AADC-77BA-F4E9-3513106E0BD4}"/>
              </a:ext>
            </a:extLst>
          </p:cNvPr>
          <p:cNvSpPr txBox="1"/>
          <p:nvPr/>
        </p:nvSpPr>
        <p:spPr>
          <a:xfrm>
            <a:off x="11471550" y="644319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6</a:t>
            </a:r>
            <a:endParaRPr lang="en-DE" sz="14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36A9F10-B11F-F941-1D95-2830AB5EE8F3}"/>
              </a:ext>
            </a:extLst>
          </p:cNvPr>
          <p:cNvSpPr txBox="1"/>
          <p:nvPr/>
        </p:nvSpPr>
        <p:spPr>
          <a:xfrm>
            <a:off x="442195" y="6388576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27.01.2026</a:t>
            </a:r>
            <a:endParaRPr lang="en-DE" sz="14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624F44C-A0EF-C38C-BD57-D7AB53BBBD0F}"/>
              </a:ext>
            </a:extLst>
          </p:cNvPr>
          <p:cNvSpPr txBox="1"/>
          <p:nvPr/>
        </p:nvSpPr>
        <p:spPr>
          <a:xfrm>
            <a:off x="3140559" y="1291777"/>
            <a:ext cx="5910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 u="sng" err="1"/>
              <a:t>Should</a:t>
            </a:r>
            <a:r>
              <a:rPr lang="de-DE" sz="2000" b="1" u="sng"/>
              <a:t> </a:t>
            </a:r>
            <a:r>
              <a:rPr lang="de-DE" sz="2000" b="1" u="sng" err="1"/>
              <a:t>haves</a:t>
            </a:r>
            <a:r>
              <a:rPr lang="de-DE" sz="2000" b="1" u="sng"/>
              <a:t> -  Was wurde erreicht?</a:t>
            </a:r>
            <a:endParaRPr lang="de-DE" b="1"/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5E8405C2-EF5F-1E0F-79D0-95A96E4D0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38327"/>
              </p:ext>
            </p:extLst>
          </p:nvPr>
        </p:nvGraphicFramePr>
        <p:xfrm>
          <a:off x="1359497" y="2210713"/>
          <a:ext cx="10515600" cy="1859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072061706"/>
                    </a:ext>
                  </a:extLst>
                </a:gridCol>
                <a:gridCol w="2515049">
                  <a:extLst>
                    <a:ext uri="{9D8B030D-6E8A-4147-A177-3AD203B41FA5}">
                      <a16:colId xmlns:a16="http://schemas.microsoft.com/office/drawing/2014/main" val="4034794100"/>
                    </a:ext>
                  </a:extLst>
                </a:gridCol>
                <a:gridCol w="4495351">
                  <a:extLst>
                    <a:ext uri="{9D8B030D-6E8A-4147-A177-3AD203B41FA5}">
                      <a16:colId xmlns:a16="http://schemas.microsoft.com/office/drawing/2014/main" val="32357840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b="1" u="sng"/>
                        <a:t>Anforderung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b="1" u="none"/>
                        <a:t>      </a:t>
                      </a:r>
                      <a:r>
                        <a:rPr lang="de-DE" b="1" u="sng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b="1" u="sng"/>
                        <a:t>Erläuterung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320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Automatische Aktualisierung nach Spieltagen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⚠️</a:t>
                      </a:r>
                      <a:r>
                        <a:rPr lang="de-DE" sz="1600"/>
                        <a:t> technisch möglich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Technisch möglich, aber Projekt läuft lokal auf einem PC ohne Serverlösung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688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Datenbank lokal verfügbar (SQLite)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Bewusste Entscheidung für einfache lokale Nutzung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50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Nutzung der Software auf eigenem Endgerät (z. B. Raspberry Pi)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❌ nicht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/>
                        <a:t>Keine geeignete Hardware vorhanden - zusätzlicher Serveraufwand hätte den Projektfokus verschoben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243149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A9E6149D-C25A-9E93-A957-95159C19EF8C}"/>
              </a:ext>
            </a:extLst>
          </p:cNvPr>
          <p:cNvSpPr txBox="1"/>
          <p:nvPr/>
        </p:nvSpPr>
        <p:spPr>
          <a:xfrm>
            <a:off x="1359497" y="1742163"/>
            <a:ext cx="6096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u="sng"/>
              <a:t>Automatisierung &amp; Bereitstellung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64A2941-D52E-0EA7-3BF2-F25BEAE9E228}"/>
              </a:ext>
            </a:extLst>
          </p:cNvPr>
          <p:cNvSpPr txBox="1"/>
          <p:nvPr/>
        </p:nvSpPr>
        <p:spPr>
          <a:xfrm>
            <a:off x="2490396" y="4611644"/>
            <a:ext cx="75034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b="1"/>
              <a:t>Die meisten </a:t>
            </a:r>
            <a:r>
              <a:rPr lang="de-DE" b="1" err="1"/>
              <a:t>Should-Haves</a:t>
            </a:r>
            <a:r>
              <a:rPr lang="de-DE" b="1"/>
              <a:t> wurden umgesetzt. Nicht umgesetzte Punkte sind hauptsächlich auf Infrastrukturthemen zurückzuführen.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57A1920-D3AC-ED6A-7316-7FB44D6330E5}"/>
              </a:ext>
            </a:extLst>
          </p:cNvPr>
          <p:cNvSpPr txBox="1"/>
          <p:nvPr/>
        </p:nvSpPr>
        <p:spPr>
          <a:xfrm>
            <a:off x="3474415" y="435226"/>
            <a:ext cx="5243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/>
              <a:t>Zielbeschreibung/-umsetzung</a:t>
            </a:r>
          </a:p>
        </p:txBody>
      </p:sp>
      <p:sp>
        <p:nvSpPr>
          <p:cNvPr id="9" name="Pfeil: Chevron 8">
            <a:extLst>
              <a:ext uri="{FF2B5EF4-FFF2-40B4-BE49-F238E27FC236}">
                <a16:creationId xmlns:a16="http://schemas.microsoft.com/office/drawing/2014/main" id="{5FDDE15D-E311-989E-AC11-DE68FE97A3A7}"/>
              </a:ext>
            </a:extLst>
          </p:cNvPr>
          <p:cNvSpPr/>
          <p:nvPr/>
        </p:nvSpPr>
        <p:spPr>
          <a:xfrm rot="5400000">
            <a:off x="241668" y="3289510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29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9CF26-29FD-AA10-53BA-DFCE3EB86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514F9FB-3FE2-8285-0D29-345ABD9B28FB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6E0F2078-578E-44F8-3412-BC5FEBA8D315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A8A83A4B-CDC0-578F-622E-A68DD3490EE8}"/>
              </a:ext>
            </a:extLst>
          </p:cNvPr>
          <p:cNvCxnSpPr/>
          <p:nvPr/>
        </p:nvCxnSpPr>
        <p:spPr>
          <a:xfrm>
            <a:off x="147667" y="1161943"/>
            <a:ext cx="11858803" cy="0"/>
          </a:xfrm>
          <a:prstGeom prst="line">
            <a:avLst/>
          </a:prstGeom>
          <a:ln w="25400">
            <a:solidFill>
              <a:srgbClr val="00C2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494D2F04-18E7-0C79-986D-7A142A028F3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252" y="134768"/>
            <a:ext cx="1346525" cy="992261"/>
          </a:xfrm>
          <a:prstGeom prst="rect">
            <a:avLst/>
          </a:prstGeom>
        </p:spPr>
      </p:pic>
      <p:sp>
        <p:nvSpPr>
          <p:cNvPr id="43" name="Pfeil: Chevron 42">
            <a:extLst>
              <a:ext uri="{FF2B5EF4-FFF2-40B4-BE49-F238E27FC236}">
                <a16:creationId xmlns:a16="http://schemas.microsoft.com/office/drawing/2014/main" id="{CAC846E8-0621-1CA8-70DA-95EA1177209E}"/>
              </a:ext>
            </a:extLst>
          </p:cNvPr>
          <p:cNvSpPr/>
          <p:nvPr/>
        </p:nvSpPr>
        <p:spPr>
          <a:xfrm rot="5400000">
            <a:off x="240716" y="4157016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4" name="Pfeil: Chevron 43">
            <a:extLst>
              <a:ext uri="{FF2B5EF4-FFF2-40B4-BE49-F238E27FC236}">
                <a16:creationId xmlns:a16="http://schemas.microsoft.com/office/drawing/2014/main" id="{18DF33B6-0513-4B8C-81D7-CF778668DA3B}"/>
              </a:ext>
            </a:extLst>
          </p:cNvPr>
          <p:cNvSpPr/>
          <p:nvPr/>
        </p:nvSpPr>
        <p:spPr>
          <a:xfrm rot="5400000">
            <a:off x="240715" y="2434359"/>
            <a:ext cx="1187718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5" name="Pfeil: Chevron 44">
            <a:extLst>
              <a:ext uri="{FF2B5EF4-FFF2-40B4-BE49-F238E27FC236}">
                <a16:creationId xmlns:a16="http://schemas.microsoft.com/office/drawing/2014/main" id="{192B4FF1-1ADB-CDA9-3815-E51C1BD94B82}"/>
              </a:ext>
            </a:extLst>
          </p:cNvPr>
          <p:cNvSpPr/>
          <p:nvPr/>
        </p:nvSpPr>
        <p:spPr>
          <a:xfrm rot="5400000">
            <a:off x="240715" y="1566851"/>
            <a:ext cx="1187720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8" name="Pfeil: Chevron 47">
            <a:extLst>
              <a:ext uri="{FF2B5EF4-FFF2-40B4-BE49-F238E27FC236}">
                <a16:creationId xmlns:a16="http://schemas.microsoft.com/office/drawing/2014/main" id="{97DFE9F7-46A2-4448-488B-5E1F27D79333}"/>
              </a:ext>
            </a:extLst>
          </p:cNvPr>
          <p:cNvSpPr/>
          <p:nvPr/>
        </p:nvSpPr>
        <p:spPr>
          <a:xfrm rot="5400000">
            <a:off x="240715" y="5028459"/>
            <a:ext cx="1187718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C18A788-561C-8944-7A70-4484A803D18A}"/>
              </a:ext>
            </a:extLst>
          </p:cNvPr>
          <p:cNvSpPr txBox="1"/>
          <p:nvPr/>
        </p:nvSpPr>
        <p:spPr>
          <a:xfrm>
            <a:off x="11471550" y="644319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7</a:t>
            </a:r>
            <a:endParaRPr lang="en-DE" sz="14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EFDDC2F-E9A3-7AA8-7891-56EF6C3693BD}"/>
              </a:ext>
            </a:extLst>
          </p:cNvPr>
          <p:cNvSpPr txBox="1"/>
          <p:nvPr/>
        </p:nvSpPr>
        <p:spPr>
          <a:xfrm>
            <a:off x="442195" y="6388576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27.01.2026</a:t>
            </a:r>
            <a:endParaRPr lang="en-DE" sz="14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D80B8C1-FF18-7D9B-2E6A-E543500A13D8}"/>
              </a:ext>
            </a:extLst>
          </p:cNvPr>
          <p:cNvSpPr txBox="1"/>
          <p:nvPr/>
        </p:nvSpPr>
        <p:spPr>
          <a:xfrm>
            <a:off x="3140559" y="1291777"/>
            <a:ext cx="5910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 u="sng" err="1"/>
              <a:t>Could</a:t>
            </a:r>
            <a:r>
              <a:rPr lang="de-DE" sz="2000" b="1" u="sng"/>
              <a:t> </a:t>
            </a:r>
            <a:r>
              <a:rPr lang="de-DE" sz="2000" b="1" u="sng" err="1"/>
              <a:t>haves</a:t>
            </a:r>
            <a:r>
              <a:rPr lang="de-DE" sz="2000" b="1" u="sng"/>
              <a:t> -  Was wurde erreicht?</a:t>
            </a:r>
            <a:endParaRPr lang="de-DE" b="1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8E18E11-FA73-5B86-B7D2-95CCDC3EF750}"/>
              </a:ext>
            </a:extLst>
          </p:cNvPr>
          <p:cNvSpPr txBox="1"/>
          <p:nvPr/>
        </p:nvSpPr>
        <p:spPr>
          <a:xfrm>
            <a:off x="1359497" y="1742163"/>
            <a:ext cx="6096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u="sng"/>
              <a:t>Erweiterte Statistiken</a:t>
            </a: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4BEE4C26-934A-80B5-ED8F-711FDBA7E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460967"/>
              </p:ext>
            </p:extLst>
          </p:nvPr>
        </p:nvGraphicFramePr>
        <p:xfrm>
          <a:off x="1447598" y="2076767"/>
          <a:ext cx="10515600" cy="1981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16046300"/>
                    </a:ext>
                  </a:extLst>
                </a:gridCol>
                <a:gridCol w="2765814">
                  <a:extLst>
                    <a:ext uri="{9D8B030D-6E8A-4147-A177-3AD203B41FA5}">
                      <a16:colId xmlns:a16="http://schemas.microsoft.com/office/drawing/2014/main" val="1372904347"/>
                    </a:ext>
                  </a:extLst>
                </a:gridCol>
                <a:gridCol w="4244586">
                  <a:extLst>
                    <a:ext uri="{9D8B030D-6E8A-4147-A177-3AD203B41FA5}">
                      <a16:colId xmlns:a16="http://schemas.microsoft.com/office/drawing/2014/main" val="13126400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600" b="1" u="sng"/>
                        <a:t>Anforderung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600" b="1" u="sng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600" b="1" u="sng"/>
                        <a:t>Erläuterung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008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Verhältnis Torschüsse zu Toren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❌ nicht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Diese Daten sind in der kostenfreien API-Variante nicht verfügbar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81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Gelbe / Rote Karten je Spieler/Verein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❌ nicht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s.o.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26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Ecken und Abseits pro Spiel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❌ nicht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s.o.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067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Spielerbilder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❌ nicht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Keine Bilddaten vorhanden – manuelles Einpflegen der Bilder wäre ein unverhältnismäßig hoher Aufwand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90500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8579A7EF-22D8-921E-311C-CCED78566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673511"/>
              </p:ext>
            </p:extLst>
          </p:nvPr>
        </p:nvGraphicFramePr>
        <p:xfrm>
          <a:off x="1447598" y="4103315"/>
          <a:ext cx="10515600" cy="19507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723758649"/>
                    </a:ext>
                  </a:extLst>
                </a:gridCol>
                <a:gridCol w="2755056">
                  <a:extLst>
                    <a:ext uri="{9D8B030D-6E8A-4147-A177-3AD203B41FA5}">
                      <a16:colId xmlns:a16="http://schemas.microsoft.com/office/drawing/2014/main" val="1541781839"/>
                    </a:ext>
                  </a:extLst>
                </a:gridCol>
                <a:gridCol w="4255344">
                  <a:extLst>
                    <a:ext uri="{9D8B030D-6E8A-4147-A177-3AD203B41FA5}">
                      <a16:colId xmlns:a16="http://schemas.microsoft.com/office/drawing/2014/main" val="34370717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51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Differenzierung nach Saison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Mehrere Saisons können ausgewählt werden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765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Berücksichtigung ehemaliger Bundesligamannschaften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Auf- und Abstiege sind saisonabhängig sichtbar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369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Übersicht Auf- &amp; Abstieg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⚠️ teilweise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Implizit erkennbar durch Saisonvergleich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130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Visualisierung über Website im lokalen Netz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⚠️ teilweise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Eine einfache Weboberfläche wurde realisiert, aber nicht geteilt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935686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2B1656C9-407B-62DA-F3DF-4A3E917A16C4}"/>
              </a:ext>
            </a:extLst>
          </p:cNvPr>
          <p:cNvSpPr txBox="1"/>
          <p:nvPr/>
        </p:nvSpPr>
        <p:spPr>
          <a:xfrm>
            <a:off x="1359497" y="4050425"/>
            <a:ext cx="6096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u="sng"/>
              <a:t>Historische Daten &amp; Website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17662A7-F828-2AA5-9466-E4A325A30682}"/>
              </a:ext>
            </a:extLst>
          </p:cNvPr>
          <p:cNvSpPr txBox="1"/>
          <p:nvPr/>
        </p:nvSpPr>
        <p:spPr>
          <a:xfrm>
            <a:off x="3474415" y="435226"/>
            <a:ext cx="5243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/>
              <a:t>Zielbeschreibung/-umsetzung</a:t>
            </a:r>
          </a:p>
        </p:txBody>
      </p:sp>
      <p:sp>
        <p:nvSpPr>
          <p:cNvPr id="14" name="Pfeil: Chevron 13">
            <a:extLst>
              <a:ext uri="{FF2B5EF4-FFF2-40B4-BE49-F238E27FC236}">
                <a16:creationId xmlns:a16="http://schemas.microsoft.com/office/drawing/2014/main" id="{1A4B30A6-DDBE-FDD5-31DF-3771AE419D2D}"/>
              </a:ext>
            </a:extLst>
          </p:cNvPr>
          <p:cNvSpPr/>
          <p:nvPr/>
        </p:nvSpPr>
        <p:spPr>
          <a:xfrm rot="5400000">
            <a:off x="241668" y="3289510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69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1E55C-908A-6872-E76C-91944FB48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DE6D6E43-ABF4-850A-55F8-D8239A82F627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716535C5-C394-6EB7-C1D4-21C19BD67428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2B0510D5-4003-2BEA-23CD-D32228266F86}"/>
              </a:ext>
            </a:extLst>
          </p:cNvPr>
          <p:cNvCxnSpPr/>
          <p:nvPr/>
        </p:nvCxnSpPr>
        <p:spPr>
          <a:xfrm>
            <a:off x="147667" y="1161943"/>
            <a:ext cx="11858803" cy="0"/>
          </a:xfrm>
          <a:prstGeom prst="line">
            <a:avLst/>
          </a:prstGeom>
          <a:ln w="25400">
            <a:solidFill>
              <a:srgbClr val="00C2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6C105FB8-5CC2-B1EF-2E74-7EE36B96068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252" y="134768"/>
            <a:ext cx="1346525" cy="992261"/>
          </a:xfrm>
          <a:prstGeom prst="rect">
            <a:avLst/>
          </a:prstGeom>
        </p:spPr>
      </p:pic>
      <p:sp>
        <p:nvSpPr>
          <p:cNvPr id="43" name="Pfeil: Chevron 42">
            <a:extLst>
              <a:ext uri="{FF2B5EF4-FFF2-40B4-BE49-F238E27FC236}">
                <a16:creationId xmlns:a16="http://schemas.microsoft.com/office/drawing/2014/main" id="{B6C157A1-96A4-08BA-0853-770B9FDF5828}"/>
              </a:ext>
            </a:extLst>
          </p:cNvPr>
          <p:cNvSpPr/>
          <p:nvPr/>
        </p:nvSpPr>
        <p:spPr>
          <a:xfrm rot="5400000">
            <a:off x="240716" y="4157016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4" name="Pfeil: Chevron 43">
            <a:extLst>
              <a:ext uri="{FF2B5EF4-FFF2-40B4-BE49-F238E27FC236}">
                <a16:creationId xmlns:a16="http://schemas.microsoft.com/office/drawing/2014/main" id="{B638AC6F-D4A1-3C60-ACD0-2536B0D46870}"/>
              </a:ext>
            </a:extLst>
          </p:cNvPr>
          <p:cNvSpPr/>
          <p:nvPr/>
        </p:nvSpPr>
        <p:spPr>
          <a:xfrm rot="5400000">
            <a:off x="240715" y="2434359"/>
            <a:ext cx="1187718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5" name="Pfeil: Chevron 44">
            <a:extLst>
              <a:ext uri="{FF2B5EF4-FFF2-40B4-BE49-F238E27FC236}">
                <a16:creationId xmlns:a16="http://schemas.microsoft.com/office/drawing/2014/main" id="{936520B3-97FC-0F18-D1F7-CC398E222261}"/>
              </a:ext>
            </a:extLst>
          </p:cNvPr>
          <p:cNvSpPr/>
          <p:nvPr/>
        </p:nvSpPr>
        <p:spPr>
          <a:xfrm rot="5400000">
            <a:off x="240715" y="1566851"/>
            <a:ext cx="1187720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8" name="Pfeil: Chevron 47">
            <a:extLst>
              <a:ext uri="{FF2B5EF4-FFF2-40B4-BE49-F238E27FC236}">
                <a16:creationId xmlns:a16="http://schemas.microsoft.com/office/drawing/2014/main" id="{2EAA01D7-8CB8-362D-77A5-461396C85A6C}"/>
              </a:ext>
            </a:extLst>
          </p:cNvPr>
          <p:cNvSpPr/>
          <p:nvPr/>
        </p:nvSpPr>
        <p:spPr>
          <a:xfrm rot="5400000">
            <a:off x="240715" y="5028459"/>
            <a:ext cx="1187718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4EE7637-ECA4-33D9-72C6-C0BFB8B1C6B8}"/>
              </a:ext>
            </a:extLst>
          </p:cNvPr>
          <p:cNvSpPr txBox="1"/>
          <p:nvPr/>
        </p:nvSpPr>
        <p:spPr>
          <a:xfrm>
            <a:off x="11471550" y="644319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8</a:t>
            </a:r>
            <a:endParaRPr lang="en-DE" sz="14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A26DBCC-996B-1071-CEB5-5341E039F13D}"/>
              </a:ext>
            </a:extLst>
          </p:cNvPr>
          <p:cNvSpPr txBox="1"/>
          <p:nvPr/>
        </p:nvSpPr>
        <p:spPr>
          <a:xfrm>
            <a:off x="442195" y="6388576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27.01.2026</a:t>
            </a:r>
            <a:endParaRPr lang="en-DE" sz="14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781122B-14FC-5DAC-BE6F-7DD36C0708D6}"/>
              </a:ext>
            </a:extLst>
          </p:cNvPr>
          <p:cNvSpPr txBox="1"/>
          <p:nvPr/>
        </p:nvSpPr>
        <p:spPr>
          <a:xfrm>
            <a:off x="3140559" y="1291777"/>
            <a:ext cx="5910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 u="sng" err="1"/>
              <a:t>Could</a:t>
            </a:r>
            <a:r>
              <a:rPr lang="de-DE" sz="2000" b="1" u="sng"/>
              <a:t> </a:t>
            </a:r>
            <a:r>
              <a:rPr lang="de-DE" sz="2000" b="1" u="sng" err="1"/>
              <a:t>haves</a:t>
            </a:r>
            <a:r>
              <a:rPr lang="de-DE" sz="2000" b="1" u="sng"/>
              <a:t> -  Was wurde erreicht?</a:t>
            </a:r>
            <a:endParaRPr lang="de-DE" b="1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F630FC7-26C1-B3B7-6954-77C4C07A825D}"/>
              </a:ext>
            </a:extLst>
          </p:cNvPr>
          <p:cNvSpPr txBox="1"/>
          <p:nvPr/>
        </p:nvSpPr>
        <p:spPr>
          <a:xfrm>
            <a:off x="1359497" y="1742163"/>
            <a:ext cx="6096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u="sng"/>
              <a:t>Fußballtippspiel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8506C04E-2CB3-E57E-158B-4085E3FF2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018639"/>
              </p:ext>
            </p:extLst>
          </p:nvPr>
        </p:nvGraphicFramePr>
        <p:xfrm>
          <a:off x="1409252" y="2053615"/>
          <a:ext cx="10514703" cy="2042160"/>
        </p:xfrm>
        <a:graphic>
          <a:graphicData uri="http://schemas.openxmlformats.org/drawingml/2006/table">
            <a:tbl>
              <a:tblPr/>
              <a:tblGrid>
                <a:gridCol w="3504303">
                  <a:extLst>
                    <a:ext uri="{9D8B030D-6E8A-4147-A177-3AD203B41FA5}">
                      <a16:colId xmlns:a16="http://schemas.microsoft.com/office/drawing/2014/main" val="235558175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112588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799517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b="1" u="sng"/>
                        <a:t>Anforderung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400" b="1" u="sng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b="1" u="sng"/>
                        <a:t>Erläuterung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486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Fußballtippspiel allgemein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❌ nicht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Der Entwicklungsaufwand hätte den Rahmen des Projekts deutlich überschritten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97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383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978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45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60451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82E9CE94-ADBF-27F5-F99D-A12100E0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759797"/>
              </p:ext>
            </p:extLst>
          </p:nvPr>
        </p:nvGraphicFramePr>
        <p:xfrm>
          <a:off x="1432505" y="2899068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8252586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411075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539575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046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Oberfläche für Tippspiel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❌ nicht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Kein Tippspiel vorhanden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042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151187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4B32100E-B79F-4CB0-5B81-06E6A5CDBFFA}"/>
              </a:ext>
            </a:extLst>
          </p:cNvPr>
          <p:cNvSpPr txBox="1"/>
          <p:nvPr/>
        </p:nvSpPr>
        <p:spPr>
          <a:xfrm>
            <a:off x="1408299" y="2848986"/>
            <a:ext cx="6096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u="sng"/>
              <a:t>Visualisierung</a:t>
            </a:r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C5502334-1B03-AF0B-F6CF-4DBF88830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592856"/>
              </p:ext>
            </p:extLst>
          </p:nvPr>
        </p:nvGraphicFramePr>
        <p:xfrm>
          <a:off x="1432505" y="3469565"/>
          <a:ext cx="10515600" cy="8229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018918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553700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0981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Historische Ergebnisse gleicher Partien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❌ nicht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Wurde zugunsten höher priorisierter Funktionen zurückgestellt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217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Aufwändigeres, moderneres 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Fokus auf Benutzerfreundlichkeit und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432067"/>
                  </a:ext>
                </a:extLst>
              </a:tr>
            </a:tbl>
          </a:graphicData>
        </a:graphic>
      </p:graphicFrame>
      <p:sp>
        <p:nvSpPr>
          <p:cNvPr id="14" name="Textfeld 13">
            <a:extLst>
              <a:ext uri="{FF2B5EF4-FFF2-40B4-BE49-F238E27FC236}">
                <a16:creationId xmlns:a16="http://schemas.microsoft.com/office/drawing/2014/main" id="{C0136534-5972-DE01-AA52-F5F5FC74D86B}"/>
              </a:ext>
            </a:extLst>
          </p:cNvPr>
          <p:cNvSpPr txBox="1"/>
          <p:nvPr/>
        </p:nvSpPr>
        <p:spPr>
          <a:xfrm>
            <a:off x="2280718" y="4813170"/>
            <a:ext cx="8245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b="1"/>
              <a:t>Ein Teil der </a:t>
            </a:r>
            <a:r>
              <a:rPr lang="de-DE" sz="1600" b="1" err="1"/>
              <a:t>Could</a:t>
            </a:r>
            <a:r>
              <a:rPr lang="de-DE" sz="1600" b="1"/>
              <a:t> </a:t>
            </a:r>
            <a:r>
              <a:rPr lang="de-DE" sz="1600" b="1" err="1"/>
              <a:t>haves</a:t>
            </a:r>
            <a:r>
              <a:rPr lang="de-DE" sz="1600" b="1"/>
              <a:t> wurde nicht umgesetzt, um den Fokus auf die vollständige und stabile Umsetzung der </a:t>
            </a:r>
            <a:r>
              <a:rPr lang="de-DE" sz="1600" b="1" i="1" err="1"/>
              <a:t>Must</a:t>
            </a:r>
            <a:r>
              <a:rPr lang="de-DE" sz="1600" b="1" i="1"/>
              <a:t>-</a:t>
            </a:r>
            <a:r>
              <a:rPr lang="de-DE" sz="1600" b="1"/>
              <a:t> und </a:t>
            </a:r>
            <a:r>
              <a:rPr lang="de-DE" sz="1600" b="1" i="1" err="1"/>
              <a:t>Should-Haves</a:t>
            </a:r>
            <a:r>
              <a:rPr lang="de-DE" sz="1600" b="1"/>
              <a:t> zu legen. Andere Punkte waren aufgrund der nicht zur Verfügung gestellten Datensätze der API nicht umsetzbar. 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3335CDB-D2CD-E645-73CC-B107E39DD512}"/>
              </a:ext>
            </a:extLst>
          </p:cNvPr>
          <p:cNvSpPr txBox="1"/>
          <p:nvPr/>
        </p:nvSpPr>
        <p:spPr>
          <a:xfrm>
            <a:off x="3474415" y="435226"/>
            <a:ext cx="5243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/>
              <a:t>Zielbeschreibung/-umsetzung</a:t>
            </a:r>
          </a:p>
        </p:txBody>
      </p:sp>
      <p:sp>
        <p:nvSpPr>
          <p:cNvPr id="17" name="Pfeil: Chevron 16">
            <a:extLst>
              <a:ext uri="{FF2B5EF4-FFF2-40B4-BE49-F238E27FC236}">
                <a16:creationId xmlns:a16="http://schemas.microsoft.com/office/drawing/2014/main" id="{DE96A847-D121-6333-0969-0E6EF2B1B222}"/>
              </a:ext>
            </a:extLst>
          </p:cNvPr>
          <p:cNvSpPr/>
          <p:nvPr/>
        </p:nvSpPr>
        <p:spPr>
          <a:xfrm rot="5400000">
            <a:off x="241668" y="3289510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799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BEEAD-880D-4B91-C829-BBA96B5DC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EA7C711-6587-48B9-F477-9ECDCF218353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7A240C2-D324-CBD5-ECB0-2548A70AAE38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181EC81B-54D1-7EA0-84A8-E73B4BF0EFFB}"/>
              </a:ext>
            </a:extLst>
          </p:cNvPr>
          <p:cNvCxnSpPr/>
          <p:nvPr/>
        </p:nvCxnSpPr>
        <p:spPr>
          <a:xfrm>
            <a:off x="147667" y="1161943"/>
            <a:ext cx="11858803" cy="0"/>
          </a:xfrm>
          <a:prstGeom prst="line">
            <a:avLst/>
          </a:prstGeom>
          <a:ln w="25400">
            <a:solidFill>
              <a:srgbClr val="00C2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62FD8415-6F28-AC91-F986-07BB3DA392B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252" y="134768"/>
            <a:ext cx="1346525" cy="992261"/>
          </a:xfrm>
          <a:prstGeom prst="rect">
            <a:avLst/>
          </a:prstGeom>
        </p:spPr>
      </p:pic>
      <p:sp>
        <p:nvSpPr>
          <p:cNvPr id="43" name="Pfeil: Chevron 42">
            <a:extLst>
              <a:ext uri="{FF2B5EF4-FFF2-40B4-BE49-F238E27FC236}">
                <a16:creationId xmlns:a16="http://schemas.microsoft.com/office/drawing/2014/main" id="{409D6D4F-0C28-DC96-5631-A37A10F326C1}"/>
              </a:ext>
            </a:extLst>
          </p:cNvPr>
          <p:cNvSpPr/>
          <p:nvPr/>
        </p:nvSpPr>
        <p:spPr>
          <a:xfrm rot="5400000">
            <a:off x="240716" y="4157016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4" name="Pfeil: Chevron 43">
            <a:extLst>
              <a:ext uri="{FF2B5EF4-FFF2-40B4-BE49-F238E27FC236}">
                <a16:creationId xmlns:a16="http://schemas.microsoft.com/office/drawing/2014/main" id="{C59B07F1-441B-73DD-CCFE-7B8F19B9B0B7}"/>
              </a:ext>
            </a:extLst>
          </p:cNvPr>
          <p:cNvSpPr/>
          <p:nvPr/>
        </p:nvSpPr>
        <p:spPr>
          <a:xfrm rot="5400000">
            <a:off x="240715" y="2434359"/>
            <a:ext cx="1187718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5" name="Pfeil: Chevron 44">
            <a:extLst>
              <a:ext uri="{FF2B5EF4-FFF2-40B4-BE49-F238E27FC236}">
                <a16:creationId xmlns:a16="http://schemas.microsoft.com/office/drawing/2014/main" id="{6DB4F29F-4715-8B7E-91D1-C18AE9C17036}"/>
              </a:ext>
            </a:extLst>
          </p:cNvPr>
          <p:cNvSpPr/>
          <p:nvPr/>
        </p:nvSpPr>
        <p:spPr>
          <a:xfrm rot="5400000">
            <a:off x="240715" y="1566851"/>
            <a:ext cx="1187720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48" name="Pfeil: Chevron 47">
            <a:extLst>
              <a:ext uri="{FF2B5EF4-FFF2-40B4-BE49-F238E27FC236}">
                <a16:creationId xmlns:a16="http://schemas.microsoft.com/office/drawing/2014/main" id="{22614DED-F5D8-8D73-3B82-502B94716074}"/>
              </a:ext>
            </a:extLst>
          </p:cNvPr>
          <p:cNvSpPr/>
          <p:nvPr/>
        </p:nvSpPr>
        <p:spPr>
          <a:xfrm rot="5400000">
            <a:off x="240715" y="5028459"/>
            <a:ext cx="1187718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A6A870F-7030-4AFD-1628-F003830B3027}"/>
              </a:ext>
            </a:extLst>
          </p:cNvPr>
          <p:cNvSpPr txBox="1"/>
          <p:nvPr/>
        </p:nvSpPr>
        <p:spPr>
          <a:xfrm>
            <a:off x="11471550" y="644319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9</a:t>
            </a:r>
            <a:endParaRPr lang="en-DE" sz="14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95DBA2F-1ED3-986C-A37B-81F2D47F87CD}"/>
              </a:ext>
            </a:extLst>
          </p:cNvPr>
          <p:cNvSpPr txBox="1"/>
          <p:nvPr/>
        </p:nvSpPr>
        <p:spPr>
          <a:xfrm>
            <a:off x="442195" y="6388576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27.01.2026</a:t>
            </a:r>
            <a:endParaRPr lang="en-DE" sz="14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6273790-6636-0B60-7B94-CCCE76F04158}"/>
              </a:ext>
            </a:extLst>
          </p:cNvPr>
          <p:cNvSpPr txBox="1"/>
          <p:nvPr/>
        </p:nvSpPr>
        <p:spPr>
          <a:xfrm>
            <a:off x="3140559" y="1291777"/>
            <a:ext cx="5910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 u="sng"/>
              <a:t>Zusätzlich eingefügte Inhalte</a:t>
            </a:r>
            <a:endParaRPr lang="de-DE" b="1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944520C-1B85-40C3-0548-5A30E05D9A37}"/>
              </a:ext>
            </a:extLst>
          </p:cNvPr>
          <p:cNvSpPr txBox="1"/>
          <p:nvPr/>
        </p:nvSpPr>
        <p:spPr>
          <a:xfrm>
            <a:off x="1359497" y="1742163"/>
            <a:ext cx="6096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u="sng"/>
              <a:t>Erweiterung des Datenmodells</a:t>
            </a: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7087093A-0E45-5A6C-E218-DE901D364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974703"/>
              </p:ext>
            </p:extLst>
          </p:nvPr>
        </p:nvGraphicFramePr>
        <p:xfrm>
          <a:off x="1447598" y="2200292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500943539"/>
                    </a:ext>
                  </a:extLst>
                </a:gridCol>
                <a:gridCol w="2174143">
                  <a:extLst>
                    <a:ext uri="{9D8B030D-6E8A-4147-A177-3AD203B41FA5}">
                      <a16:colId xmlns:a16="http://schemas.microsoft.com/office/drawing/2014/main" val="2358964061"/>
                    </a:ext>
                  </a:extLst>
                </a:gridCol>
                <a:gridCol w="4836257">
                  <a:extLst>
                    <a:ext uri="{9D8B030D-6E8A-4147-A177-3AD203B41FA5}">
                      <a16:colId xmlns:a16="http://schemas.microsoft.com/office/drawing/2014/main" val="170600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 b="1" u="sng"/>
                        <a:t>Zusätzlicher Inhalt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 b="1" u="sng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600" b="1" u="sng"/>
                        <a:t>Erläuterung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748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Meisterschaften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Meistertitel wurden saisonabhängig erfasst und können ausgewertet werden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095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Eigentorliste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Eigentore werden gespeichert und statistisch ausgewertet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540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Anstoßzeiten (Datum &amp; Uhrzeit)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Partien enthalten neben dem Spieltag auch exakte Anstoßzeiten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767267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B2D0DCDF-449E-C99F-6FE3-30F485B89854}"/>
              </a:ext>
            </a:extLst>
          </p:cNvPr>
          <p:cNvSpPr txBox="1"/>
          <p:nvPr/>
        </p:nvSpPr>
        <p:spPr>
          <a:xfrm>
            <a:off x="3474415" y="435226"/>
            <a:ext cx="5243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/>
              <a:t>Zielbeschreibung/-umsetzung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5BD505DF-0BA0-125D-75DC-F40EF42A6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135340"/>
              </p:ext>
            </p:extLst>
          </p:nvPr>
        </p:nvGraphicFramePr>
        <p:xfrm>
          <a:off x="1447598" y="4006792"/>
          <a:ext cx="10515600" cy="1219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68384899"/>
                    </a:ext>
                  </a:extLst>
                </a:gridCol>
                <a:gridCol w="2222553">
                  <a:extLst>
                    <a:ext uri="{9D8B030D-6E8A-4147-A177-3AD203B41FA5}">
                      <a16:colId xmlns:a16="http://schemas.microsoft.com/office/drawing/2014/main" val="1466020077"/>
                    </a:ext>
                  </a:extLst>
                </a:gridCol>
                <a:gridCol w="4787847">
                  <a:extLst>
                    <a:ext uri="{9D8B030D-6E8A-4147-A177-3AD203B41FA5}">
                      <a16:colId xmlns:a16="http://schemas.microsoft.com/office/drawing/2014/main" val="40222652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109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Grafische Darstellung der Torschützen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Torschützen werden visuell aufbereitet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241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Grafische Darstellung der Meisterschaften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Meistertitel werden übersichtlich visualisiert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750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Grafische Darstellung der Eigentore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✅ umgesetzt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Eigentore werden grafisch ausgewertet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276673"/>
                  </a:ext>
                </a:extLst>
              </a:tr>
            </a:tbl>
          </a:graphicData>
        </a:graphic>
      </p:graphicFrame>
      <p:sp>
        <p:nvSpPr>
          <p:cNvPr id="16" name="Textfeld 15">
            <a:extLst>
              <a:ext uri="{FF2B5EF4-FFF2-40B4-BE49-F238E27FC236}">
                <a16:creationId xmlns:a16="http://schemas.microsoft.com/office/drawing/2014/main" id="{EE3A7563-3D4A-6BCB-486F-2B87C98415FA}"/>
              </a:ext>
            </a:extLst>
          </p:cNvPr>
          <p:cNvSpPr txBox="1"/>
          <p:nvPr/>
        </p:nvSpPr>
        <p:spPr>
          <a:xfrm>
            <a:off x="1402528" y="3914219"/>
            <a:ext cx="6096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u="sng"/>
              <a:t>Erweiterte Visualisierung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E973FB9-C4BA-A983-1443-12535E5B3F19}"/>
              </a:ext>
            </a:extLst>
          </p:cNvPr>
          <p:cNvSpPr txBox="1"/>
          <p:nvPr/>
        </p:nvSpPr>
        <p:spPr>
          <a:xfrm>
            <a:off x="1975777" y="5420838"/>
            <a:ext cx="8994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b="1"/>
              <a:t>Die zusätzlichen Inhalte stellen eine funktionale und qualitative Erweiterung des Projekts dar. Sie erhöhen sowohl den Informationsgehalt als auch die Anschaulichkeit der Datenbank</a:t>
            </a:r>
          </a:p>
        </p:txBody>
      </p:sp>
      <p:sp>
        <p:nvSpPr>
          <p:cNvPr id="22" name="Pfeil: Chevron 21">
            <a:extLst>
              <a:ext uri="{FF2B5EF4-FFF2-40B4-BE49-F238E27FC236}">
                <a16:creationId xmlns:a16="http://schemas.microsoft.com/office/drawing/2014/main" id="{4CE88A9A-2EA3-E9CD-47B5-89CD2002D894}"/>
              </a:ext>
            </a:extLst>
          </p:cNvPr>
          <p:cNvSpPr/>
          <p:nvPr/>
        </p:nvSpPr>
        <p:spPr>
          <a:xfrm rot="5400000">
            <a:off x="241668" y="3289510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71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  <p:bldP spid="16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AB647-8EA3-1162-5578-7188AD24C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22BBFB3-4799-1943-4FB7-3E6A949DD03F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7C4F5E96-3421-451A-6016-48D56BF8CCA5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FAECF44-13C9-FFA2-F3E7-784F0DA630FB}"/>
              </a:ext>
            </a:extLst>
          </p:cNvPr>
          <p:cNvCxnSpPr/>
          <p:nvPr/>
        </p:nvCxnSpPr>
        <p:spPr>
          <a:xfrm>
            <a:off x="147667" y="1161943"/>
            <a:ext cx="11858803" cy="0"/>
          </a:xfrm>
          <a:prstGeom prst="line">
            <a:avLst/>
          </a:prstGeom>
          <a:ln w="25400">
            <a:solidFill>
              <a:srgbClr val="00C2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2EA8BAC6-8E6F-6408-621E-9DD07F563FB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252" y="134768"/>
            <a:ext cx="1346525" cy="992261"/>
          </a:xfrm>
          <a:prstGeom prst="rect">
            <a:avLst/>
          </a:prstGeom>
        </p:spPr>
      </p:pic>
      <p:sp>
        <p:nvSpPr>
          <p:cNvPr id="34" name="Pfeil: Chevron 33">
            <a:extLst>
              <a:ext uri="{FF2B5EF4-FFF2-40B4-BE49-F238E27FC236}">
                <a16:creationId xmlns:a16="http://schemas.microsoft.com/office/drawing/2014/main" id="{FFDB4FE3-0A55-CB0C-B266-DD2D10157700}"/>
              </a:ext>
            </a:extLst>
          </p:cNvPr>
          <p:cNvSpPr/>
          <p:nvPr/>
        </p:nvSpPr>
        <p:spPr>
          <a:xfrm rot="5400000">
            <a:off x="241668" y="3289510"/>
            <a:ext cx="1187719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36" name="Pfeil: Chevron 35">
            <a:extLst>
              <a:ext uri="{FF2B5EF4-FFF2-40B4-BE49-F238E27FC236}">
                <a16:creationId xmlns:a16="http://schemas.microsoft.com/office/drawing/2014/main" id="{64F7CBED-2B92-83A1-AEF5-CC2C7668E386}"/>
              </a:ext>
            </a:extLst>
          </p:cNvPr>
          <p:cNvSpPr/>
          <p:nvPr/>
        </p:nvSpPr>
        <p:spPr>
          <a:xfrm rot="5400000">
            <a:off x="240715" y="2434359"/>
            <a:ext cx="1187718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37" name="Pfeil: Chevron 36">
            <a:extLst>
              <a:ext uri="{FF2B5EF4-FFF2-40B4-BE49-F238E27FC236}">
                <a16:creationId xmlns:a16="http://schemas.microsoft.com/office/drawing/2014/main" id="{0057D193-1849-EDC4-E8A1-B1F817523239}"/>
              </a:ext>
            </a:extLst>
          </p:cNvPr>
          <p:cNvSpPr/>
          <p:nvPr/>
        </p:nvSpPr>
        <p:spPr>
          <a:xfrm rot="5400000">
            <a:off x="240715" y="1566851"/>
            <a:ext cx="1187720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2D5F781-8611-5719-9FF3-568682991A70}"/>
              </a:ext>
            </a:extLst>
          </p:cNvPr>
          <p:cNvSpPr txBox="1"/>
          <p:nvPr/>
        </p:nvSpPr>
        <p:spPr>
          <a:xfrm>
            <a:off x="11471550" y="6443192"/>
            <a:ext cx="36740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de-DE" sz="1400">
                <a:ea typeface="Calibri"/>
                <a:cs typeface="Calibri"/>
              </a:rPr>
              <a:t>10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8258AAB-9437-15B6-070D-ACC4B920551B}"/>
              </a:ext>
            </a:extLst>
          </p:cNvPr>
          <p:cNvSpPr txBox="1"/>
          <p:nvPr/>
        </p:nvSpPr>
        <p:spPr>
          <a:xfrm>
            <a:off x="3193489" y="542254"/>
            <a:ext cx="6177140" cy="156966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de-DE" sz="3200" b="1">
                <a:ea typeface="Calibri"/>
                <a:cs typeface="Calibri"/>
              </a:rPr>
              <a:t>Konzeptioneller Datenbankentwurf</a:t>
            </a:r>
          </a:p>
          <a:p>
            <a:br>
              <a:rPr lang="en-US" sz="3200" b="1">
                <a:ea typeface="Calibri"/>
                <a:cs typeface="Calibri"/>
              </a:rPr>
            </a:br>
            <a:endParaRPr lang="en-US" sz="3200" b="1">
              <a:ea typeface="Calibri"/>
              <a:cs typeface="Calibri"/>
            </a:endParaRPr>
          </a:p>
        </p:txBody>
      </p:sp>
      <p:pic>
        <p:nvPicPr>
          <p:cNvPr id="2" name="Grafik 1" descr="Ein Bild, das Zeichnung, Diagramm, Entwurf enthält.&#10;&#10;KI-generierte Inhalte können fehlerhaft sein.">
            <a:extLst>
              <a:ext uri="{FF2B5EF4-FFF2-40B4-BE49-F238E27FC236}">
                <a16:creationId xmlns:a16="http://schemas.microsoft.com/office/drawing/2014/main" id="{66AEEFDC-F234-CB95-AD81-B74429128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8052" y="1199214"/>
            <a:ext cx="6882140" cy="5007905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DB9E882-D566-2A46-34D6-CC3F45DE3EBA}"/>
              </a:ext>
            </a:extLst>
          </p:cNvPr>
          <p:cNvSpPr txBox="1"/>
          <p:nvPr/>
        </p:nvSpPr>
        <p:spPr>
          <a:xfrm>
            <a:off x="442195" y="6388576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27.01.2026</a:t>
            </a:r>
            <a:endParaRPr lang="en-DE" sz="1400"/>
          </a:p>
        </p:txBody>
      </p:sp>
      <p:sp>
        <p:nvSpPr>
          <p:cNvPr id="6" name="Pfeil: Chevron 5">
            <a:extLst>
              <a:ext uri="{FF2B5EF4-FFF2-40B4-BE49-F238E27FC236}">
                <a16:creationId xmlns:a16="http://schemas.microsoft.com/office/drawing/2014/main" id="{57A5D338-0EC3-9EE2-9636-347E5D54E169}"/>
              </a:ext>
            </a:extLst>
          </p:cNvPr>
          <p:cNvSpPr/>
          <p:nvPr/>
        </p:nvSpPr>
        <p:spPr>
          <a:xfrm rot="5400000">
            <a:off x="240715" y="5028459"/>
            <a:ext cx="1187718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7" name="Pfeil: Chevron 6">
            <a:extLst>
              <a:ext uri="{FF2B5EF4-FFF2-40B4-BE49-F238E27FC236}">
                <a16:creationId xmlns:a16="http://schemas.microsoft.com/office/drawing/2014/main" id="{24C37A84-61F2-6D43-9814-1A7ABE3E5217}"/>
              </a:ext>
            </a:extLst>
          </p:cNvPr>
          <p:cNvSpPr/>
          <p:nvPr/>
        </p:nvSpPr>
        <p:spPr>
          <a:xfrm rot="5400000">
            <a:off x="240716" y="4157016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553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C0D32-07C3-9AEA-422C-295BD5A43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D3B3360A-3004-537E-52E1-99AF42216B80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EA46D1C3-6528-2631-B06E-059AFDE36E9D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2284CA15-8AB2-4C26-D899-F89F07CA5B36}"/>
              </a:ext>
            </a:extLst>
          </p:cNvPr>
          <p:cNvCxnSpPr/>
          <p:nvPr/>
        </p:nvCxnSpPr>
        <p:spPr>
          <a:xfrm>
            <a:off x="147667" y="1161943"/>
            <a:ext cx="11858803" cy="0"/>
          </a:xfrm>
          <a:prstGeom prst="line">
            <a:avLst/>
          </a:prstGeom>
          <a:ln w="25400">
            <a:solidFill>
              <a:srgbClr val="00C2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26685FD3-F1AC-1E12-80ED-8637173DF0B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252" y="134768"/>
            <a:ext cx="1346525" cy="992261"/>
          </a:xfrm>
          <a:prstGeom prst="rect">
            <a:avLst/>
          </a:prstGeom>
        </p:spPr>
      </p:pic>
      <p:sp>
        <p:nvSpPr>
          <p:cNvPr id="34" name="Pfeil: Chevron 33">
            <a:extLst>
              <a:ext uri="{FF2B5EF4-FFF2-40B4-BE49-F238E27FC236}">
                <a16:creationId xmlns:a16="http://schemas.microsoft.com/office/drawing/2014/main" id="{B014F281-7A3C-4961-15CA-539D8E8C6BA2}"/>
              </a:ext>
            </a:extLst>
          </p:cNvPr>
          <p:cNvSpPr/>
          <p:nvPr/>
        </p:nvSpPr>
        <p:spPr>
          <a:xfrm rot="5400000">
            <a:off x="241668" y="3289510"/>
            <a:ext cx="1187719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36" name="Pfeil: Chevron 35">
            <a:extLst>
              <a:ext uri="{FF2B5EF4-FFF2-40B4-BE49-F238E27FC236}">
                <a16:creationId xmlns:a16="http://schemas.microsoft.com/office/drawing/2014/main" id="{D2ED11E5-2EE8-A4B3-7BBB-6E1AE5C5CDCC}"/>
              </a:ext>
            </a:extLst>
          </p:cNvPr>
          <p:cNvSpPr/>
          <p:nvPr/>
        </p:nvSpPr>
        <p:spPr>
          <a:xfrm rot="5400000">
            <a:off x="240715" y="2434359"/>
            <a:ext cx="1187718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37" name="Pfeil: Chevron 36">
            <a:extLst>
              <a:ext uri="{FF2B5EF4-FFF2-40B4-BE49-F238E27FC236}">
                <a16:creationId xmlns:a16="http://schemas.microsoft.com/office/drawing/2014/main" id="{3CA0608C-0D9E-2A5A-9894-EA9B425A5BD2}"/>
              </a:ext>
            </a:extLst>
          </p:cNvPr>
          <p:cNvSpPr/>
          <p:nvPr/>
        </p:nvSpPr>
        <p:spPr>
          <a:xfrm rot="5400000">
            <a:off x="240715" y="1566851"/>
            <a:ext cx="1187720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D2B5F79-2854-A335-1043-1F57F52C1625}"/>
              </a:ext>
            </a:extLst>
          </p:cNvPr>
          <p:cNvSpPr txBox="1"/>
          <p:nvPr/>
        </p:nvSpPr>
        <p:spPr>
          <a:xfrm>
            <a:off x="11471550" y="644319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11</a:t>
            </a:r>
            <a:endParaRPr lang="en-DE" sz="140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05C1064-45A7-5DCB-7666-BAC519B616AD}"/>
              </a:ext>
            </a:extLst>
          </p:cNvPr>
          <p:cNvSpPr txBox="1"/>
          <p:nvPr/>
        </p:nvSpPr>
        <p:spPr>
          <a:xfrm>
            <a:off x="3551745" y="459779"/>
            <a:ext cx="5088509" cy="113877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de-DE" sz="3200" b="1"/>
              <a:t>Logischer Datenbankentwurf</a:t>
            </a:r>
          </a:p>
          <a:p>
            <a:br>
              <a:rPr lang="en-US"/>
            </a:br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0BD9484-EC9B-EF08-732E-8DF5BEBD6F5F}"/>
              </a:ext>
            </a:extLst>
          </p:cNvPr>
          <p:cNvSpPr txBox="1"/>
          <p:nvPr/>
        </p:nvSpPr>
        <p:spPr>
          <a:xfrm>
            <a:off x="442195" y="6388576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27.01.2026</a:t>
            </a:r>
            <a:endParaRPr lang="en-DE" sz="1400"/>
          </a:p>
        </p:txBody>
      </p:sp>
      <p:pic>
        <p:nvPicPr>
          <p:cNvPr id="3" name="Grafik 2" descr="Ein Bild, das Screenshot, Text, Design enthält.&#10;&#10;KI-generierte Inhalte können fehlerhaft sein.">
            <a:extLst>
              <a:ext uri="{FF2B5EF4-FFF2-40B4-BE49-F238E27FC236}">
                <a16:creationId xmlns:a16="http://schemas.microsoft.com/office/drawing/2014/main" id="{A6CD8960-ADC9-8BBE-D7AE-457EE6787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197" y="1380491"/>
            <a:ext cx="7154628" cy="4626120"/>
          </a:xfrm>
          <a:prstGeom prst="rect">
            <a:avLst/>
          </a:prstGeom>
        </p:spPr>
      </p:pic>
      <p:sp>
        <p:nvSpPr>
          <p:cNvPr id="4" name="Pfeil: Chevron 3">
            <a:extLst>
              <a:ext uri="{FF2B5EF4-FFF2-40B4-BE49-F238E27FC236}">
                <a16:creationId xmlns:a16="http://schemas.microsoft.com/office/drawing/2014/main" id="{CFF3B79C-9808-08E5-CCA4-58CB66924D57}"/>
              </a:ext>
            </a:extLst>
          </p:cNvPr>
          <p:cNvSpPr/>
          <p:nvPr/>
        </p:nvSpPr>
        <p:spPr>
          <a:xfrm rot="5400000">
            <a:off x="240715" y="5028459"/>
            <a:ext cx="1187718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6" name="Pfeil: Chevron 5">
            <a:extLst>
              <a:ext uri="{FF2B5EF4-FFF2-40B4-BE49-F238E27FC236}">
                <a16:creationId xmlns:a16="http://schemas.microsoft.com/office/drawing/2014/main" id="{955C06C3-3364-D545-C5C3-01B92D09C793}"/>
              </a:ext>
            </a:extLst>
          </p:cNvPr>
          <p:cNvSpPr/>
          <p:nvPr/>
        </p:nvSpPr>
        <p:spPr>
          <a:xfrm rot="5400000">
            <a:off x="240716" y="4157016"/>
            <a:ext cx="1187719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091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E53D9-156A-DE4B-CE0F-A672C79CB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E43319E3-DE2A-0FF6-55D5-B53D469E2D95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35731593-688E-9335-577B-4DE528C9817B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8B2F0ADE-940E-105D-FB5B-9868987CE0C5}"/>
              </a:ext>
            </a:extLst>
          </p:cNvPr>
          <p:cNvCxnSpPr/>
          <p:nvPr/>
        </p:nvCxnSpPr>
        <p:spPr>
          <a:xfrm>
            <a:off x="147667" y="1161943"/>
            <a:ext cx="11858803" cy="0"/>
          </a:xfrm>
          <a:prstGeom prst="line">
            <a:avLst/>
          </a:prstGeom>
          <a:ln w="25400">
            <a:solidFill>
              <a:srgbClr val="00C2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5DB7D859-A7CC-4180-CB7D-EC7B8BD2F54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252" y="134768"/>
            <a:ext cx="1346525" cy="992261"/>
          </a:xfrm>
          <a:prstGeom prst="rect">
            <a:avLst/>
          </a:prstGeom>
        </p:spPr>
      </p:pic>
      <p:sp>
        <p:nvSpPr>
          <p:cNvPr id="34" name="Pfeil: Chevron 33">
            <a:extLst>
              <a:ext uri="{FF2B5EF4-FFF2-40B4-BE49-F238E27FC236}">
                <a16:creationId xmlns:a16="http://schemas.microsoft.com/office/drawing/2014/main" id="{398F5F53-46F0-0456-072C-3B4AF0743643}"/>
              </a:ext>
            </a:extLst>
          </p:cNvPr>
          <p:cNvSpPr/>
          <p:nvPr/>
        </p:nvSpPr>
        <p:spPr>
          <a:xfrm rot="5400000">
            <a:off x="241668" y="3289510"/>
            <a:ext cx="1187719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35" name="Pfeil: Chevron 34">
            <a:extLst>
              <a:ext uri="{FF2B5EF4-FFF2-40B4-BE49-F238E27FC236}">
                <a16:creationId xmlns:a16="http://schemas.microsoft.com/office/drawing/2014/main" id="{DCFFB112-58F8-4B1A-4B40-95F4668D9166}"/>
              </a:ext>
            </a:extLst>
          </p:cNvPr>
          <p:cNvSpPr/>
          <p:nvPr/>
        </p:nvSpPr>
        <p:spPr>
          <a:xfrm rot="5400000">
            <a:off x="240716" y="4157016"/>
            <a:ext cx="1187719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36" name="Pfeil: Chevron 35">
            <a:extLst>
              <a:ext uri="{FF2B5EF4-FFF2-40B4-BE49-F238E27FC236}">
                <a16:creationId xmlns:a16="http://schemas.microsoft.com/office/drawing/2014/main" id="{11FBFCD0-1BCE-7788-C0C3-28501B2C980D}"/>
              </a:ext>
            </a:extLst>
          </p:cNvPr>
          <p:cNvSpPr/>
          <p:nvPr/>
        </p:nvSpPr>
        <p:spPr>
          <a:xfrm rot="5400000">
            <a:off x="240715" y="2434359"/>
            <a:ext cx="1187718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37" name="Pfeil: Chevron 36">
            <a:extLst>
              <a:ext uri="{FF2B5EF4-FFF2-40B4-BE49-F238E27FC236}">
                <a16:creationId xmlns:a16="http://schemas.microsoft.com/office/drawing/2014/main" id="{EA020DE2-82CB-B080-27EA-A5CEE91C81A9}"/>
              </a:ext>
            </a:extLst>
          </p:cNvPr>
          <p:cNvSpPr/>
          <p:nvPr/>
        </p:nvSpPr>
        <p:spPr>
          <a:xfrm rot="5400000">
            <a:off x="240715" y="1566851"/>
            <a:ext cx="1187720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1EC9D97-AE75-F4B6-A2ED-3CFAD96F31A3}"/>
              </a:ext>
            </a:extLst>
          </p:cNvPr>
          <p:cNvSpPr txBox="1"/>
          <p:nvPr/>
        </p:nvSpPr>
        <p:spPr>
          <a:xfrm>
            <a:off x="11471550" y="644319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12</a:t>
            </a:r>
            <a:endParaRPr lang="en-DE" sz="140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34B2EA3-5394-3602-9BCE-4DA3E795FB88}"/>
              </a:ext>
            </a:extLst>
          </p:cNvPr>
          <p:cNvSpPr txBox="1"/>
          <p:nvPr/>
        </p:nvSpPr>
        <p:spPr>
          <a:xfrm>
            <a:off x="4036085" y="542254"/>
            <a:ext cx="3910238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de-DE" sz="3200" b="1"/>
              <a:t>Benutze Technologien</a:t>
            </a:r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2C79216-2869-CA33-B937-3931C311EBC6}"/>
              </a:ext>
            </a:extLst>
          </p:cNvPr>
          <p:cNvSpPr txBox="1"/>
          <p:nvPr/>
        </p:nvSpPr>
        <p:spPr>
          <a:xfrm>
            <a:off x="442195" y="6388576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27.01.2026</a:t>
            </a:r>
            <a:endParaRPr lang="en-DE" sz="1400"/>
          </a:p>
        </p:txBody>
      </p:sp>
      <p:pic>
        <p:nvPicPr>
          <p:cNvPr id="2" name="Grafik 1" descr="Ein Bild, das Grafiken, Schrift, Screenshot, Logo enthält.&#10;&#10;KI-generierte Inhalte können fehlerhaft sein.">
            <a:extLst>
              <a:ext uri="{FF2B5EF4-FFF2-40B4-BE49-F238E27FC236}">
                <a16:creationId xmlns:a16="http://schemas.microsoft.com/office/drawing/2014/main" id="{31EF1654-8D86-0F3C-09E0-5B1F0614F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765" y="1987755"/>
            <a:ext cx="3582866" cy="170058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EF26DB4-A02C-3363-A2F0-16B5E24A4B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6121" y="2549163"/>
            <a:ext cx="4933950" cy="1457325"/>
          </a:xfrm>
          <a:prstGeom prst="rect">
            <a:avLst/>
          </a:prstGeom>
        </p:spPr>
      </p:pic>
      <p:pic>
        <p:nvPicPr>
          <p:cNvPr id="4" name="Grafik 3" descr="Ein Bild, das Grafiken, Grafikdesign, Schrift, Logo enthält.&#10;&#10;KI-generierte Inhalte können fehlerhaft sein.">
            <a:extLst>
              <a:ext uri="{FF2B5EF4-FFF2-40B4-BE49-F238E27FC236}">
                <a16:creationId xmlns:a16="http://schemas.microsoft.com/office/drawing/2014/main" id="{D89D9413-CDBC-0771-188A-A5A6FB2BD5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4624" y="3802673"/>
            <a:ext cx="3046944" cy="174380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8B16F38-CA5E-5BA9-7DD3-608886A6D2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18449" y="4618031"/>
            <a:ext cx="3335694" cy="802122"/>
          </a:xfrm>
          <a:prstGeom prst="rect">
            <a:avLst/>
          </a:prstGeom>
        </p:spPr>
      </p:pic>
      <p:sp>
        <p:nvSpPr>
          <p:cNvPr id="7" name="Pfeil: Chevron 6">
            <a:extLst>
              <a:ext uri="{FF2B5EF4-FFF2-40B4-BE49-F238E27FC236}">
                <a16:creationId xmlns:a16="http://schemas.microsoft.com/office/drawing/2014/main" id="{C719AF1F-AC02-B466-5313-84D83718DF2B}"/>
              </a:ext>
            </a:extLst>
          </p:cNvPr>
          <p:cNvSpPr/>
          <p:nvPr/>
        </p:nvSpPr>
        <p:spPr>
          <a:xfrm rot="5400000">
            <a:off x="240715" y="5028459"/>
            <a:ext cx="1187718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pic>
        <p:nvPicPr>
          <p:cNvPr id="9" name="Grafik 8" descr="Ein Bild, das Grafiken, Schrift, Logo, Schwarz enthält.&#10;&#10;KI-generierte Inhalte können fehlerhaft sein.">
            <a:extLst>
              <a:ext uri="{FF2B5EF4-FFF2-40B4-BE49-F238E27FC236}">
                <a16:creationId xmlns:a16="http://schemas.microsoft.com/office/drawing/2014/main" id="{2A310D12-8217-CF2E-F2F0-B78D113BF7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9601" y="4215142"/>
            <a:ext cx="3575160" cy="13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753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0B109-756E-4E5D-176E-08CA947FF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CB0D524-4AA1-9A74-B42E-A90111B3C38F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72B5C061-B6DC-B36C-D10B-575821FA2EA2}"/>
              </a:ext>
            </a:extLst>
          </p:cNvPr>
          <p:cNvCxnSpPr/>
          <p:nvPr/>
        </p:nvCxnSpPr>
        <p:spPr>
          <a:xfrm>
            <a:off x="155237" y="6213135"/>
            <a:ext cx="11858803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167D436A-AD45-2F01-B99A-DA0E006520EF}"/>
              </a:ext>
            </a:extLst>
          </p:cNvPr>
          <p:cNvCxnSpPr/>
          <p:nvPr/>
        </p:nvCxnSpPr>
        <p:spPr>
          <a:xfrm>
            <a:off x="147667" y="1161943"/>
            <a:ext cx="11858803" cy="0"/>
          </a:xfrm>
          <a:prstGeom prst="line">
            <a:avLst/>
          </a:prstGeom>
          <a:ln w="25400">
            <a:solidFill>
              <a:srgbClr val="00C2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5C8C4FA1-431D-DCD3-1A89-8EEED981938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252" y="134768"/>
            <a:ext cx="1346525" cy="992261"/>
          </a:xfrm>
          <a:prstGeom prst="rect">
            <a:avLst/>
          </a:prstGeom>
        </p:spPr>
      </p:pic>
      <p:sp>
        <p:nvSpPr>
          <p:cNvPr id="34" name="Pfeil: Chevron 33">
            <a:extLst>
              <a:ext uri="{FF2B5EF4-FFF2-40B4-BE49-F238E27FC236}">
                <a16:creationId xmlns:a16="http://schemas.microsoft.com/office/drawing/2014/main" id="{CE5D2809-0694-B02C-A7BF-453AD9D7F0D4}"/>
              </a:ext>
            </a:extLst>
          </p:cNvPr>
          <p:cNvSpPr/>
          <p:nvPr/>
        </p:nvSpPr>
        <p:spPr>
          <a:xfrm rot="5400000">
            <a:off x="241668" y="3289510"/>
            <a:ext cx="1187719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35" name="Pfeil: Chevron 34">
            <a:extLst>
              <a:ext uri="{FF2B5EF4-FFF2-40B4-BE49-F238E27FC236}">
                <a16:creationId xmlns:a16="http://schemas.microsoft.com/office/drawing/2014/main" id="{D233CDAC-99A7-7ACB-CB89-AF68D283E968}"/>
              </a:ext>
            </a:extLst>
          </p:cNvPr>
          <p:cNvSpPr/>
          <p:nvPr/>
        </p:nvSpPr>
        <p:spPr>
          <a:xfrm rot="5400000">
            <a:off x="240716" y="4157016"/>
            <a:ext cx="1187719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36" name="Pfeil: Chevron 35">
            <a:extLst>
              <a:ext uri="{FF2B5EF4-FFF2-40B4-BE49-F238E27FC236}">
                <a16:creationId xmlns:a16="http://schemas.microsoft.com/office/drawing/2014/main" id="{904208DB-DFFF-C309-3794-4AAFF5CF1C37}"/>
              </a:ext>
            </a:extLst>
          </p:cNvPr>
          <p:cNvSpPr/>
          <p:nvPr/>
        </p:nvSpPr>
        <p:spPr>
          <a:xfrm rot="5400000">
            <a:off x="240715" y="2434359"/>
            <a:ext cx="1187718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37" name="Pfeil: Chevron 36">
            <a:extLst>
              <a:ext uri="{FF2B5EF4-FFF2-40B4-BE49-F238E27FC236}">
                <a16:creationId xmlns:a16="http://schemas.microsoft.com/office/drawing/2014/main" id="{A8B3D8F1-672F-6E7E-81DD-EAF9A4710A6A}"/>
              </a:ext>
            </a:extLst>
          </p:cNvPr>
          <p:cNvSpPr/>
          <p:nvPr/>
        </p:nvSpPr>
        <p:spPr>
          <a:xfrm rot="5400000">
            <a:off x="240715" y="1566851"/>
            <a:ext cx="1187720" cy="7847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3DD3995-8147-C17E-D9B9-D12478389D20}"/>
              </a:ext>
            </a:extLst>
          </p:cNvPr>
          <p:cNvSpPr txBox="1"/>
          <p:nvPr/>
        </p:nvSpPr>
        <p:spPr>
          <a:xfrm>
            <a:off x="11471550" y="644319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13</a:t>
            </a:r>
            <a:endParaRPr lang="en-DE" sz="140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1A8B2EB-3CDA-AD5D-3F0D-F865CBAED0DF}"/>
              </a:ext>
            </a:extLst>
          </p:cNvPr>
          <p:cNvSpPr txBox="1"/>
          <p:nvPr/>
        </p:nvSpPr>
        <p:spPr>
          <a:xfrm>
            <a:off x="4036085" y="542254"/>
            <a:ext cx="3758401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de-DE" sz="3200" b="1"/>
              <a:t>Struktur des Projekts</a:t>
            </a:r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144F65C-CB58-8408-E689-99AE9D5F25A1}"/>
              </a:ext>
            </a:extLst>
          </p:cNvPr>
          <p:cNvSpPr txBox="1"/>
          <p:nvPr/>
        </p:nvSpPr>
        <p:spPr>
          <a:xfrm>
            <a:off x="442195" y="6388576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27.01.2026</a:t>
            </a:r>
            <a:endParaRPr lang="en-DE" sz="1400"/>
          </a:p>
        </p:txBody>
      </p:sp>
      <p:pic>
        <p:nvPicPr>
          <p:cNvPr id="3" name="Grafik 2" descr="Ein Bild, das Grafiken, Schrift, Screenshot, Logo enthält.&#10;&#10;KI-generierte Inhalte können fehlerhaft sein.">
            <a:extLst>
              <a:ext uri="{FF2B5EF4-FFF2-40B4-BE49-F238E27FC236}">
                <a16:creationId xmlns:a16="http://schemas.microsoft.com/office/drawing/2014/main" id="{22EF6DDC-5A60-3D15-7B49-25945C977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099" y="3223927"/>
            <a:ext cx="1950009" cy="92302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CE7F83F-9E64-401A-8E42-FBC8823830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1611" y="2199265"/>
            <a:ext cx="2181420" cy="63312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352BB1C-280C-0384-FE46-31B3A351B9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1039" y="4788509"/>
            <a:ext cx="2181420" cy="63312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636295A-3537-2722-437C-8937A01799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2122" y="1888826"/>
            <a:ext cx="1858348" cy="444449"/>
          </a:xfrm>
          <a:prstGeom prst="rect">
            <a:avLst/>
          </a:prstGeom>
        </p:spPr>
      </p:pic>
      <p:pic>
        <p:nvPicPr>
          <p:cNvPr id="14" name="Grafik 13" descr="Ein Bild, das Grafiken, Grafikdesign, Schrift, Logo enthält.&#10;&#10;KI-generierte Inhalte können fehlerhaft sein.">
            <a:extLst>
              <a:ext uri="{FF2B5EF4-FFF2-40B4-BE49-F238E27FC236}">
                <a16:creationId xmlns:a16="http://schemas.microsoft.com/office/drawing/2014/main" id="{2F65EBFE-494B-1883-B916-A6AE2A0341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8746" y="2333101"/>
            <a:ext cx="1655128" cy="1012912"/>
          </a:xfrm>
          <a:prstGeom prst="rect">
            <a:avLst/>
          </a:prstGeom>
        </p:spPr>
      </p:pic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80585A08-5821-D475-C580-46EA988767E8}"/>
              </a:ext>
            </a:extLst>
          </p:cNvPr>
          <p:cNvCxnSpPr/>
          <p:nvPr/>
        </p:nvCxnSpPr>
        <p:spPr>
          <a:xfrm flipV="1">
            <a:off x="2322253" y="2867948"/>
            <a:ext cx="382730" cy="1314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822143A-B72C-9286-2158-6057E808C6A4}"/>
              </a:ext>
            </a:extLst>
          </p:cNvPr>
          <p:cNvCxnSpPr>
            <a:cxnSpLocks/>
          </p:cNvCxnSpPr>
          <p:nvPr/>
        </p:nvCxnSpPr>
        <p:spPr>
          <a:xfrm>
            <a:off x="4631580" y="2580500"/>
            <a:ext cx="880362" cy="621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538161B7-C913-A4AA-C5FB-F17A8523E6A9}"/>
              </a:ext>
            </a:extLst>
          </p:cNvPr>
          <p:cNvCxnSpPr>
            <a:cxnSpLocks/>
          </p:cNvCxnSpPr>
          <p:nvPr/>
        </p:nvCxnSpPr>
        <p:spPr>
          <a:xfrm>
            <a:off x="7181947" y="4135602"/>
            <a:ext cx="880362" cy="621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7C837BC3-A5F9-10BE-B2FF-61E23525A68D}"/>
              </a:ext>
            </a:extLst>
          </p:cNvPr>
          <p:cNvCxnSpPr>
            <a:cxnSpLocks/>
          </p:cNvCxnSpPr>
          <p:nvPr/>
        </p:nvCxnSpPr>
        <p:spPr>
          <a:xfrm flipH="1" flipV="1">
            <a:off x="8404432" y="2424744"/>
            <a:ext cx="340392" cy="2255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C1DB60C7-0F48-D013-403F-FDB7DA978FA7}"/>
              </a:ext>
            </a:extLst>
          </p:cNvPr>
          <p:cNvCxnSpPr>
            <a:cxnSpLocks/>
          </p:cNvCxnSpPr>
          <p:nvPr/>
        </p:nvCxnSpPr>
        <p:spPr>
          <a:xfrm flipV="1">
            <a:off x="10113314" y="3256724"/>
            <a:ext cx="864812" cy="1423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230A228B-52E0-BF45-40A2-9D6FE855FCAF}"/>
              </a:ext>
            </a:extLst>
          </p:cNvPr>
          <p:cNvSpPr txBox="1"/>
          <p:nvPr/>
        </p:nvSpPr>
        <p:spPr>
          <a:xfrm>
            <a:off x="2032434" y="3210170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>
                <a:ea typeface="Calibri"/>
                <a:cs typeface="Calibri"/>
              </a:rPr>
              <a:t>Daten abrufen</a:t>
            </a:r>
            <a:br>
              <a:rPr lang="de-DE">
                <a:ea typeface="Calibri"/>
                <a:cs typeface="Calibri"/>
              </a:rPr>
            </a:br>
            <a:r>
              <a:rPr lang="de-DE">
                <a:ea typeface="Calibri"/>
                <a:cs typeface="Calibri"/>
              </a:rPr>
              <a:t>aus fremder</a:t>
            </a:r>
            <a:br>
              <a:rPr lang="de-DE">
                <a:ea typeface="Calibri"/>
                <a:cs typeface="Calibri"/>
              </a:rPr>
            </a:br>
            <a:r>
              <a:rPr lang="de-DE">
                <a:ea typeface="Calibri"/>
                <a:cs typeface="Calibri"/>
              </a:rPr>
              <a:t>Quelle</a:t>
            </a:r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BE91C01-C4D6-515E-CE4F-E557F0181B54}"/>
              </a:ext>
            </a:extLst>
          </p:cNvPr>
          <p:cNvSpPr txBox="1"/>
          <p:nvPr/>
        </p:nvSpPr>
        <p:spPr>
          <a:xfrm>
            <a:off x="5044619" y="2335741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>
                <a:ea typeface="Calibri"/>
                <a:cs typeface="Calibri"/>
              </a:rPr>
              <a:t>Daten</a:t>
            </a:r>
            <a:br>
              <a:rPr lang="de-DE">
                <a:ea typeface="Calibri"/>
                <a:cs typeface="Calibri"/>
              </a:rPr>
            </a:br>
            <a:r>
              <a:rPr lang="de-DE">
                <a:ea typeface="Calibri"/>
                <a:cs typeface="Calibri"/>
              </a:rPr>
              <a:t>importieren</a:t>
            </a:r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75D35D2-4A84-8FA6-2B4D-38BFE443EA76}"/>
              </a:ext>
            </a:extLst>
          </p:cNvPr>
          <p:cNvSpPr txBox="1"/>
          <p:nvPr/>
        </p:nvSpPr>
        <p:spPr>
          <a:xfrm>
            <a:off x="5623418" y="4360560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>
                <a:ea typeface="Calibri"/>
                <a:cs typeface="Calibri"/>
              </a:rPr>
              <a:t>Daten abrufen</a:t>
            </a:r>
            <a:br>
              <a:rPr lang="de-DE">
                <a:ea typeface="Calibri"/>
                <a:cs typeface="Calibri"/>
              </a:rPr>
            </a:br>
            <a:r>
              <a:rPr lang="de-DE">
                <a:ea typeface="Calibri"/>
                <a:cs typeface="Calibri"/>
              </a:rPr>
              <a:t>aus eigener</a:t>
            </a:r>
            <a:br>
              <a:rPr lang="de-DE">
                <a:ea typeface="Calibri"/>
                <a:cs typeface="Calibri"/>
              </a:rPr>
            </a:br>
            <a:r>
              <a:rPr lang="de-DE">
                <a:ea typeface="Calibri"/>
                <a:cs typeface="Calibri"/>
              </a:rPr>
              <a:t>DB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273A40F7-8741-78E1-0E88-911B859E2AB1}"/>
              </a:ext>
            </a:extLst>
          </p:cNvPr>
          <p:cNvSpPr txBox="1"/>
          <p:nvPr/>
        </p:nvSpPr>
        <p:spPr>
          <a:xfrm>
            <a:off x="10422265" y="4081163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>
                <a:ea typeface="Calibri"/>
                <a:cs typeface="Calibri"/>
              </a:rPr>
              <a:t>Visualisierung</a:t>
            </a:r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585AF9B5-8D53-F161-5842-F53B6E66BB88}"/>
              </a:ext>
            </a:extLst>
          </p:cNvPr>
          <p:cNvSpPr txBox="1"/>
          <p:nvPr/>
        </p:nvSpPr>
        <p:spPr>
          <a:xfrm>
            <a:off x="8573623" y="3023694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>
                <a:ea typeface="Calibri"/>
                <a:cs typeface="Calibri"/>
              </a:rPr>
              <a:t>Graphen</a:t>
            </a:r>
            <a:br>
              <a:rPr lang="de-DE">
                <a:ea typeface="Calibri"/>
                <a:cs typeface="Calibri"/>
              </a:rPr>
            </a:br>
            <a:r>
              <a:rPr lang="de-DE">
                <a:ea typeface="Calibri"/>
                <a:cs typeface="Calibri"/>
              </a:rPr>
              <a:t>darstellen</a:t>
            </a:r>
            <a:endParaRPr lang="de-DE"/>
          </a:p>
        </p:txBody>
      </p:sp>
      <p:pic>
        <p:nvPicPr>
          <p:cNvPr id="31" name="Grafik 30" descr="Ein Bild, das Schrift, Grafiken, Logo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E15003C6-FAF9-6E4A-6B32-3E6EBA9E0F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5022" y="4389955"/>
            <a:ext cx="2731732" cy="628457"/>
          </a:xfrm>
          <a:prstGeom prst="rect">
            <a:avLst/>
          </a:prstGeom>
        </p:spPr>
      </p:pic>
      <p:sp>
        <p:nvSpPr>
          <p:cNvPr id="2" name="Pfeil: Chevron 1">
            <a:extLst>
              <a:ext uri="{FF2B5EF4-FFF2-40B4-BE49-F238E27FC236}">
                <a16:creationId xmlns:a16="http://schemas.microsoft.com/office/drawing/2014/main" id="{DDA7F3A5-A227-45B6-AAF5-C3D162C966D8}"/>
              </a:ext>
            </a:extLst>
          </p:cNvPr>
          <p:cNvSpPr/>
          <p:nvPr/>
        </p:nvSpPr>
        <p:spPr>
          <a:xfrm rot="5400000">
            <a:off x="240715" y="5028459"/>
            <a:ext cx="1187718" cy="784759"/>
          </a:xfrm>
          <a:prstGeom prst="chevron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073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D34FE95-12C9-EAD1-187A-266FA98449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314655" cy="689813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0E580D0C-9EF0-40B5-874E-4A0663207E9E}"/>
              </a:ext>
            </a:extLst>
          </p:cNvPr>
          <p:cNvSpPr txBox="1"/>
          <p:nvPr/>
        </p:nvSpPr>
        <p:spPr>
          <a:xfrm>
            <a:off x="4534126" y="2302248"/>
            <a:ext cx="3246402" cy="121001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e-DE" sz="5400" b="1"/>
              <a:t>Live-Demo</a:t>
            </a:r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02DBAE2-FE76-466D-850F-F3F4D4058E2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3047" y="346885"/>
            <a:ext cx="1941881" cy="143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61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Breitbild</PresentationFormat>
  <Slides>16</Slides>
  <Notes>6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17" baseType="lpstr"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Prüfungsleistung Berufliche Fachrichtung Elektrotechnik-Informationstechnik</dc:title>
  <dc:creator>Ed Von Stäck</dc:creator>
  <cp:revision>3</cp:revision>
  <dcterms:created xsi:type="dcterms:W3CDTF">2021-02-04T11:07:23Z</dcterms:created>
  <dcterms:modified xsi:type="dcterms:W3CDTF">2026-01-27T08:29:49Z</dcterms:modified>
</cp:coreProperties>
</file>